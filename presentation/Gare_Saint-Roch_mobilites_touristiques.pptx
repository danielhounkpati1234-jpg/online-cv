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ab4846c-a3a0-1156-419d-72937fd11f13}">
          <p14:sldIdLst>
            <p14:sldId id="256"/>
            <p14:sldId id="257"/>
            <p14:sldId id="258"/>
          </p14:sldIdLst>
        </p14:section>
        <p14:section name="Bibliographie" id="{e7b6b8f3-4705-a4d3-c136-918aa4772356}">
          <p14:sldIdLst>
            <p14:sldId id="259"/>
            <p14:sldId id="260"/>
          </p14:sldIdLst>
        </p14:section>
        <p14:section name="Synthèse des articles" id="{360d1baf-063c-6aca-f869-b4884f80b700}">
          <p14:sldIdLst>
            <p14:sldId id="261"/>
            <p14:sldId id="262"/>
            <p14:sldId id="263"/>
            <p14:sldId id="264"/>
          </p14:sldIdLst>
        </p14:section>
        <p14:section name="Terrain" id="{b17e1062-2450-8bd6-e711-310304e4e330}">
          <p14:sldIdLst>
            <p14:sldId id="265"/>
          </p14:sldIdLst>
        </p14:section>
        <p14:section name="Problématique et cadre d'analyse" id="{493bdf60-4a86-7cf3-10c1-96184752af11}">
          <p14:sldIdLst>
            <p14:sldId id="266"/>
            <p14:sldId id="267"/>
            <p14:sldId id="268"/>
          </p14:sldIdLst>
        </p14:section>
        <p14:section name="Conclusion" id="{b397667b-c094-c874-678f-5d1f7e7d811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groupe (5 étudiant·es). Nous présentons la méthodologie de notre enquête sur les mobilités touristiques, avec comme terrain la gare Saint-Roch, porte d'entrée ferroviaire de la métropole.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commande : analyser les mobilités des touristes et excursionnistes sur Montpellier Méditerranée Métropole et formuler des préconisations. Notre angle : la gare Saint-Roch, premier contact de nombreux visiteurs avec le territoire.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gare Saint-Roch concentre train, tramway, bus, vélo et marche. Point important pour notre sujet : depuis décembre 2023, les transports TAM sont gratuits pour les habitants de la Métropole, mais les visiteurs doivent acheter un titre (M'Ticket, distributeurs) : la question de l'information et de la billettique est donc centrale pour 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comment nous avons construit notre corpus : mots-clés croisés (opérateurs ET/OU) dans les principaux moteurs de recherche académiques. À adapter selon les outils réellement utilisés par le groupe.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membre du groupe a étudié un article. (Ajouter ici les articles des deux autres membres du groupe.) Bigras &amp; Dostaler : vision intégrée tourisme-transport. Knafou et al. : approche géographique, mode d'habiter temporaire. Urbain : évolution des pratiques, autonomie et diversification.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Idée générale commune aux trois articles. Les notions clés : accessibilité, saturation, durabilité, fiabilité (Bigras &amp; Dostaler) ; repères, lisibilité, clarté (Knafou) ; autonomie, choix, flexibilité touristique (Urbain).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Bigras &amp; Dostaler n'apportent pas de données d'enquête, mais un cadre : pour améliorer l'expérience de mobilité des touristes, il faut agir sur l'accessibilité, la saturation, la durabilité et la fiabilité. Nous appliquons ces quatre entrées à Saint-Roch.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Knafou et al. : le tourisme n'est pas qu'un secteur économique, c'est une manière d'habiter et de parcourir l'espace. Pour faciliter les déplacements des visiteurs, les réseaux doivent être lisibles, compréhensibles et rassurants : signalétique claire, information simple, repères identifiables aux points d'échange.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Urbain : le tourisme répond à des besoins de détente, de découverte, de liberté. Les pratiques évoluent vers plus d'autonomie et de diversité (séjours courts, départs imprévus). La mobilité touristique dépend de la capacité des voyageurs à organiser leurs déplacements et à accéder facilement aux lieux. Attention : données datées des années 1990.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des questionnements remontés de nos premières observations, organisée selon trois entrées : l'offre, l'accessibilité et le vécu. Ce qui nous a surpris : la signalétique, les correspondances, l'attente, les prix et la diversité des profils de voyageurs.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problématique croise la commande (rendre les mobilités accessibles et compréhensibles aux visiteurs) et les apports de la littérature : information, autonomie, expérience.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Arborescence demandée dans le cahier des charges : une hypothèse principale, trois dimensions (offre, accessibilité, vécu), chacune avec une sous-hypothèse et trois composantes à investiguer sur le terrain.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Méthodes croisées, qualitatives et quantitatives, chacune reliée aux dimensions de l'arborescence. Les moments d'enquête doivent varier pour capter les différents profils de visiteurs.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suite de l'atelier : enquête de terrain, analyse au regard des sous-hypothèses, puis préconisations pour rendre les mobilités plus lisibles et accessibles aux visiteurs.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54864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Atelier tutoré · Gare Montpellier Saint-Roch · Master Transport &amp; Mobilités · Université Paul-Valéry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Atelier tutoré · Gare Montpellier Saint-Roch · Master Transport &amp; Mobilités · Université Paul-Valéry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façade gare" descr="/tmp/claude-0/-home-user-online-cv/ee39b21c-a5a8-5008-a843-7fe60c1fd8b5/scratchpad/deck/img/facade_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9535" y="0"/>
            <a:ext cx="5852160" cy="3429000"/>
          </a:xfrm>
          <a:prstGeom prst="rect">
            <a:avLst/>
          </a:prstGeom>
        </p:spPr>
      </p:pic>
      <p:pic>
        <p:nvPicPr>
          <p:cNvPr id="3" name="Photo aérienne gare" descr="/tmp/claude-0/-home-user-online-cv/ee39b21c-a5a8-5008-a843-7fe60c1fd8b5/scratchpad/deck/img/aerien_wid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3429000"/>
            <a:ext cx="5852160" cy="3429000"/>
          </a:xfrm>
          <a:prstGeom prst="rect">
            <a:avLst/>
          </a:prstGeom>
        </p:spPr>
      </p:pic>
      <p:sp>
        <p:nvSpPr>
          <p:cNvPr id="4" name="Surtitre"/>
          <p:cNvSpPr txBox="1"/>
          <p:nvPr/>
        </p:nvSpPr>
        <p:spPr>
          <a:xfrm>
            <a:off x="54864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Atelier tutoré · Master Transport &amp; Mobilités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5544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mobilités touristiques à Montpellier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Méthodologie de l'enquête en sciences sociales et transport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Terrain d'enquête : la gare Montpellier Saint-Roch</a:t>
            </a:r>
            <a:endParaRPr lang="en-US" sz="1800" dirty="0"/>
          </a:p>
        </p:txBody>
      </p:sp>
      <p:sp>
        <p:nvSpPr>
          <p:cNvPr id="7" name="Date"/>
          <p:cNvSpPr txBox="1"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Université Paul-Valéry Montpellier 3 · Vendredi 16 octobre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mission : adapter les mobilités aux visiteurs</a:t>
            </a:r>
            <a:endParaRPr lang="en-US" sz="3200" dirty="0"/>
          </a:p>
        </p:txBody>
      </p:sp>
      <p:sp>
        <p:nvSpPr>
          <p:cNvPr id="3" name="Carte problématique"/>
          <p:cNvSpPr/>
          <p:nvPr/>
        </p:nvSpPr>
        <p:spPr>
          <a:xfrm>
            <a:off x="548640" y="1371600"/>
            <a:ext cx="548640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Label problématique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Problématique touristique</a:t>
            </a:r>
            <a:endParaRPr lang="en-US" sz="1600" dirty="0"/>
          </a:p>
        </p:txBody>
      </p:sp>
      <p:sp>
        <p:nvSpPr>
          <p:cNvPr id="5" name="Problématique"/>
          <p:cNvSpPr txBox="1"/>
          <p:nvPr/>
        </p:nvSpPr>
        <p:spPr>
          <a:xfrm>
            <a:off x="914400" y="21945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Comment adapter les mobilités aux pratiques touristiques et de loisirs, et les rendre accessibles et compréhensibles aux visiteurs du territoire ? »</a:t>
            </a:r>
            <a:endParaRPr lang="en-US" sz="2400" dirty="0"/>
          </a:p>
        </p:txBody>
      </p:sp>
      <p:sp>
        <p:nvSpPr>
          <p:cNvPr id="6" name="Territoire"/>
          <p:cNvSpPr txBox="1"/>
          <p:nvPr/>
        </p:nvSpPr>
        <p:spPr>
          <a:xfrm>
            <a:off x="91440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Montpellier Méditerranée Métropole</a:t>
            </a:r>
            <a:endParaRPr lang="en-US" sz="1400" dirty="0"/>
          </a:p>
        </p:txBody>
      </p:sp>
      <p:sp>
        <p:nvSpPr>
          <p:cNvPr id="7" name="Label objet"/>
          <p:cNvSpPr txBox="1"/>
          <p:nvPr/>
        </p:nvSpPr>
        <p:spPr>
          <a:xfrm>
            <a:off x="64922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Objet de la mission</a:t>
            </a:r>
            <a:endParaRPr lang="en-US" sz="2000" dirty="0"/>
          </a:p>
        </p:txBody>
      </p:sp>
      <p:sp>
        <p:nvSpPr>
          <p:cNvPr id="8" name="Mission Analyser cercle"/>
          <p:cNvSpPr/>
          <p:nvPr/>
        </p:nvSpPr>
        <p:spPr>
          <a:xfrm>
            <a:off x="6492240" y="20574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Mission Analyser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805" y="2232965"/>
            <a:ext cx="380390" cy="380390"/>
          </a:xfrm>
          <a:prstGeom prst="rect">
            <a:avLst/>
          </a:prstGeom>
        </p:spPr>
      </p:pic>
      <p:sp>
        <p:nvSpPr>
          <p:cNvPr id="10" name="Mission titre Analyser"/>
          <p:cNvSpPr txBox="1"/>
          <p:nvPr/>
        </p:nvSpPr>
        <p:spPr>
          <a:xfrm>
            <a:off x="7452360" y="2039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Analyser</a:t>
            </a:r>
            <a:endParaRPr lang="en-US" sz="1800" dirty="0"/>
          </a:p>
        </p:txBody>
      </p:sp>
      <p:sp>
        <p:nvSpPr>
          <p:cNvPr id="11" name="Mission texte Analyser"/>
          <p:cNvSpPr txBox="1"/>
          <p:nvPr/>
        </p:nvSpPr>
        <p:spPr>
          <a:xfrm>
            <a:off x="7452360" y="24231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mobilités des touristes et excursionnistes sur le territoire de la Métropole</a:t>
            </a:r>
            <a:endParaRPr lang="en-US" sz="1500" dirty="0"/>
          </a:p>
        </p:txBody>
      </p:sp>
      <p:sp>
        <p:nvSpPr>
          <p:cNvPr id="12" name="Mission Comprendre cercle"/>
          <p:cNvSpPr/>
          <p:nvPr/>
        </p:nvSpPr>
        <p:spPr>
          <a:xfrm>
            <a:off x="6492240" y="34290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Mission Comprendre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3604565"/>
            <a:ext cx="380390" cy="380390"/>
          </a:xfrm>
          <a:prstGeom prst="rect">
            <a:avLst/>
          </a:prstGeom>
        </p:spPr>
      </p:pic>
      <p:sp>
        <p:nvSpPr>
          <p:cNvPr id="14" name="Mission titre Comprendre"/>
          <p:cNvSpPr txBox="1"/>
          <p:nvPr/>
        </p:nvSpPr>
        <p:spPr>
          <a:xfrm>
            <a:off x="7452360" y="34107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Comprendre</a:t>
            </a:r>
            <a:endParaRPr lang="en-US" sz="1800" dirty="0"/>
          </a:p>
        </p:txBody>
      </p:sp>
      <p:sp>
        <p:nvSpPr>
          <p:cNvPr id="15" name="Mission texte Comprendre"/>
          <p:cNvSpPr txBox="1"/>
          <p:nvPr/>
        </p:nvSpPr>
        <p:spPr>
          <a:xfrm>
            <a:off x="7452360" y="37947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pratiques, attentes et difficultés des visiteurs qui ne connaissent pas le réseau</a:t>
            </a:r>
            <a:endParaRPr lang="en-US" sz="1500" dirty="0"/>
          </a:p>
        </p:txBody>
      </p:sp>
      <p:sp>
        <p:nvSpPr>
          <p:cNvPr id="16" name="Mission Préconiser cercle"/>
          <p:cNvSpPr/>
          <p:nvPr/>
        </p:nvSpPr>
        <p:spPr>
          <a:xfrm>
            <a:off x="6492240" y="48006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Mission Préconiser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805" y="4976165"/>
            <a:ext cx="380390" cy="380390"/>
          </a:xfrm>
          <a:prstGeom prst="rect">
            <a:avLst/>
          </a:prstGeom>
        </p:spPr>
      </p:pic>
      <p:sp>
        <p:nvSpPr>
          <p:cNvPr id="18" name="Mission titre Préconiser"/>
          <p:cNvSpPr txBox="1"/>
          <p:nvPr/>
        </p:nvSpPr>
        <p:spPr>
          <a:xfrm>
            <a:off x="7452360" y="47823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Préconiser</a:t>
            </a:r>
            <a:endParaRPr lang="en-US" sz="1800" dirty="0"/>
          </a:p>
        </p:txBody>
      </p:sp>
      <p:sp>
        <p:nvSpPr>
          <p:cNvPr id="19" name="Mission texte Préconiser"/>
          <p:cNvSpPr txBox="1"/>
          <p:nvPr/>
        </p:nvSpPr>
        <p:spPr>
          <a:xfrm>
            <a:off x="7452360" y="51663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 améliorations pour une mobilité accessible et compréhensible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 aérienne gare (pleine hauteur)" descr="/tmp/claude-0/-home-user-online-cv/ee39b21c-a5a8-5008-a843-7fe60c1fd8b5/scratchpad/deck/img/aerien_t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937760" cy="6263640"/>
          </a:xfrm>
          <a:prstGeom prst="rect">
            <a:avLst/>
          </a:prstGeom>
        </p:spPr>
      </p:pic>
      <p:sp>
        <p:nvSpPr>
          <p:cNvPr id="3" name="Bandeau légende photo"/>
          <p:cNvSpPr/>
          <p:nvPr/>
        </p:nvSpPr>
        <p:spPr>
          <a:xfrm>
            <a:off x="0" y="5120640"/>
            <a:ext cx="4937760" cy="1143000"/>
          </a:xfrm>
          <a:prstGeom prst="rect">
            <a:avLst/>
          </a:prstGeom>
          <a:solidFill>
            <a:schemeClr val="tx2">
              <a:alpha val="80000"/>
            </a:schemeClr>
          </a:solidFill>
          <a:ln/>
        </p:spPr>
      </p:sp>
      <p:sp>
        <p:nvSpPr>
          <p:cNvPr id="4" name="Légende photo"/>
          <p:cNvSpPr txBox="1"/>
          <p:nvPr/>
        </p:nvSpPr>
        <p:spPr>
          <a:xfrm>
            <a:off x="365760" y="523036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Gare Saint-Roch : un pôle d'échanges multimodal en plein centre-ville</a:t>
            </a:r>
            <a:endParaRPr lang="en-US" sz="1500" dirty="0"/>
          </a:p>
        </p:txBody>
      </p:sp>
      <p:sp>
        <p:nvSpPr>
          <p:cNvPr id="5" name="Titre terrain"/>
          <p:cNvSpPr txBox="1"/>
          <p:nvPr/>
        </p:nvSpPr>
        <p:spPr>
          <a:xfrm>
            <a:off x="5394960" y="3200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terrain : la gare Saint-Roch</a:t>
            </a:r>
            <a:endParaRPr lang="en-US" sz="3200" dirty="0"/>
          </a:p>
        </p:txBody>
      </p:sp>
      <p:sp>
        <p:nvSpPr>
          <p:cNvPr id="6" name="Intro terrain"/>
          <p:cNvSpPr txBox="1"/>
          <p:nvPr/>
        </p:nvSpPr>
        <p:spPr>
          <a:xfrm>
            <a:off x="5394960" y="12344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Porte d'entrée ferroviaire de la métropole : pour beaucoup de visiteurs, le premier contact avec le territoire.</a:t>
            </a:r>
            <a:endParaRPr lang="en-US" sz="1600" dirty="0"/>
          </a:p>
        </p:txBody>
      </p:sp>
      <p:sp>
        <p:nvSpPr>
          <p:cNvPr id="7" name="Mode Train cercle"/>
          <p:cNvSpPr/>
          <p:nvPr/>
        </p:nvSpPr>
        <p:spPr>
          <a:xfrm>
            <a:off x="5394960" y="205740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Mode Train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968" y="2215408"/>
            <a:ext cx="342351" cy="342351"/>
          </a:xfrm>
          <a:prstGeom prst="rect">
            <a:avLst/>
          </a:prstGeom>
        </p:spPr>
      </p:pic>
      <p:sp>
        <p:nvSpPr>
          <p:cNvPr id="9" name="Mode titre Train"/>
          <p:cNvSpPr txBox="1"/>
          <p:nvPr/>
        </p:nvSpPr>
        <p:spPr>
          <a:xfrm>
            <a:off x="6263640" y="20299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Train</a:t>
            </a:r>
            <a:endParaRPr lang="en-US" sz="1600" dirty="0"/>
          </a:p>
        </p:txBody>
      </p:sp>
      <p:sp>
        <p:nvSpPr>
          <p:cNvPr id="10" name="Mode texte Train"/>
          <p:cNvSpPr txBox="1"/>
          <p:nvPr/>
        </p:nvSpPr>
        <p:spPr>
          <a:xfrm>
            <a:off x="6263640" y="23591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TGV, Intercités et TER : arrivée des touristes et excursionnistes</a:t>
            </a:r>
            <a:endParaRPr lang="en-US" sz="1400" dirty="0"/>
          </a:p>
        </p:txBody>
      </p:sp>
      <p:sp>
        <p:nvSpPr>
          <p:cNvPr id="11" name="Mode Tramway &amp; bus TAM cercle"/>
          <p:cNvSpPr/>
          <p:nvPr/>
        </p:nvSpPr>
        <p:spPr>
          <a:xfrm>
            <a:off x="5394960" y="2953512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Mode Tramway &amp; bus TAM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968" y="3111520"/>
            <a:ext cx="342351" cy="342351"/>
          </a:xfrm>
          <a:prstGeom prst="rect">
            <a:avLst/>
          </a:prstGeom>
        </p:spPr>
      </p:pic>
      <p:sp>
        <p:nvSpPr>
          <p:cNvPr id="13" name="Mode titre Tramway &amp;amp; bus TAM"/>
          <p:cNvSpPr txBox="1"/>
          <p:nvPr/>
        </p:nvSpPr>
        <p:spPr>
          <a:xfrm>
            <a:off x="6263640" y="29260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Tramway &amp; bus TAM</a:t>
            </a:r>
            <a:endParaRPr lang="en-US" sz="1600" dirty="0"/>
          </a:p>
        </p:txBody>
      </p:sp>
      <p:sp>
        <p:nvSpPr>
          <p:cNvPr id="14" name="Mode texte Tramway &amp;amp; bus TAM"/>
          <p:cNvSpPr txBox="1"/>
          <p:nvPr/>
        </p:nvSpPr>
        <p:spPr>
          <a:xfrm>
            <a:off x="6263640" y="3255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Stations au pied de la gare, correspondances vers toute la métropole</a:t>
            </a:r>
            <a:endParaRPr lang="en-US" sz="1400" dirty="0"/>
          </a:p>
        </p:txBody>
      </p:sp>
      <p:sp>
        <p:nvSpPr>
          <p:cNvPr id="15" name="Mode Vélo cercle"/>
          <p:cNvSpPr/>
          <p:nvPr/>
        </p:nvSpPr>
        <p:spPr>
          <a:xfrm>
            <a:off x="5394960" y="3849624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Mode Vélo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968" y="4007632"/>
            <a:ext cx="342351" cy="342351"/>
          </a:xfrm>
          <a:prstGeom prst="rect">
            <a:avLst/>
          </a:prstGeom>
        </p:spPr>
      </p:pic>
      <p:sp>
        <p:nvSpPr>
          <p:cNvPr id="17" name="Mode titre Vélo"/>
          <p:cNvSpPr txBox="1"/>
          <p:nvPr/>
        </p:nvSpPr>
        <p:spPr>
          <a:xfrm>
            <a:off x="6263640" y="38221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Vélo</a:t>
            </a:r>
            <a:endParaRPr lang="en-US" sz="1600" dirty="0"/>
          </a:p>
        </p:txBody>
      </p:sp>
      <p:sp>
        <p:nvSpPr>
          <p:cNvPr id="18" name="Mode texte Vélo"/>
          <p:cNvSpPr txBox="1"/>
          <p:nvPr/>
        </p:nvSpPr>
        <p:spPr>
          <a:xfrm>
            <a:off x="6263640" y="41513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Vélomagg' et stationnement vélo : une offre douce mais très sollicitée</a:t>
            </a:r>
            <a:endParaRPr lang="en-US" sz="1400" dirty="0"/>
          </a:p>
        </p:txBody>
      </p:sp>
      <p:sp>
        <p:nvSpPr>
          <p:cNvPr id="19" name="Mode Marche cercle"/>
          <p:cNvSpPr/>
          <p:nvPr/>
        </p:nvSpPr>
        <p:spPr>
          <a:xfrm>
            <a:off x="5394960" y="4745736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Mode Marche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2968" y="4903744"/>
            <a:ext cx="342351" cy="342351"/>
          </a:xfrm>
          <a:prstGeom prst="rect">
            <a:avLst/>
          </a:prstGeom>
        </p:spPr>
      </p:pic>
      <p:sp>
        <p:nvSpPr>
          <p:cNvPr id="21" name="Mode titre Marche"/>
          <p:cNvSpPr txBox="1"/>
          <p:nvPr/>
        </p:nvSpPr>
        <p:spPr>
          <a:xfrm>
            <a:off x="6263640" y="471830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Marche</a:t>
            </a:r>
            <a:endParaRPr lang="en-US" sz="1600" dirty="0"/>
          </a:p>
        </p:txBody>
      </p:sp>
      <p:sp>
        <p:nvSpPr>
          <p:cNvPr id="22" name="Mode texte Marche"/>
          <p:cNvSpPr txBox="1"/>
          <p:nvPr/>
        </p:nvSpPr>
        <p:spPr>
          <a:xfrm>
            <a:off x="6263640" y="5047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Écusson et place de la Comédie à quelques minutes à pied</a:t>
            </a:r>
            <a:endParaRPr lang="en-US" sz="1400" dirty="0"/>
          </a:p>
        </p:txBody>
      </p:sp>
      <p:sp>
        <p:nvSpPr>
          <p:cNvPr id="23" name="Encadré gratuité"/>
          <p:cNvSpPr/>
          <p:nvPr/>
        </p:nvSpPr>
        <p:spPr>
          <a:xfrm>
            <a:off x="5394960" y="5715000"/>
            <a:ext cx="62636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e gratuité"/>
          <p:cNvSpPr txBox="1"/>
          <p:nvPr/>
        </p:nvSpPr>
        <p:spPr>
          <a:xfrm>
            <a:off x="5532120" y="5715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À noter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réseau TAM est gratuit pour les résidents de la Métropole… mais pas pour les visiteurs.</a:t>
            </a:r>
            <a:endParaRPr lang="en-US" sz="1400" dirty="0"/>
          </a:p>
        </p:txBody>
      </p:sp>
      <p:sp>
        <p:nvSpPr>
          <p:cNvPr id="26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bibliographique : mots-clés et outils</a:t>
            </a:r>
            <a:endParaRPr lang="en-US" sz="3200" dirty="0"/>
          </a:p>
        </p:txBody>
      </p:sp>
      <p:sp>
        <p:nvSpPr>
          <p:cNvPr id="3" name="Mots-clés cercle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Mots-clés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03274"/>
            <a:ext cx="285293" cy="285293"/>
          </a:xfrm>
          <a:prstGeom prst="rect">
            <a:avLst/>
          </a:prstGeom>
        </p:spPr>
      </p:pic>
      <p:sp>
        <p:nvSpPr>
          <p:cNvPr id="5" name="Label mots-clés"/>
          <p:cNvSpPr txBox="1"/>
          <p:nvPr/>
        </p:nvSpPr>
        <p:spPr>
          <a:xfrm>
            <a:off x="1234440" y="1417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Mots-clés utilisés</a:t>
            </a:r>
            <a:endParaRPr lang="en-US" sz="2000" dirty="0"/>
          </a:p>
        </p:txBody>
      </p:sp>
      <p:sp>
        <p:nvSpPr>
          <p:cNvPr id="6" name="Chip tourisme et transport"/>
          <p:cNvSpPr/>
          <p:nvPr/>
        </p:nvSpPr>
        <p:spPr>
          <a:xfrm>
            <a:off x="548640" y="2148840"/>
            <a:ext cx="238201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Chip texte tourisme et transport"/>
          <p:cNvSpPr txBox="1"/>
          <p:nvPr/>
        </p:nvSpPr>
        <p:spPr>
          <a:xfrm>
            <a:off x="548640" y="2148840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tourisme et transport</a:t>
            </a:r>
            <a:endParaRPr lang="en-US" sz="1400" dirty="0"/>
          </a:p>
        </p:txBody>
      </p:sp>
      <p:sp>
        <p:nvSpPr>
          <p:cNvPr id="8" name="Chip expérience touristique"/>
          <p:cNvSpPr/>
          <p:nvPr/>
        </p:nvSpPr>
        <p:spPr>
          <a:xfrm>
            <a:off x="3095244" y="2148840"/>
            <a:ext cx="2478024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Chip texte expérience touristique"/>
          <p:cNvSpPr txBox="1"/>
          <p:nvPr/>
        </p:nvSpPr>
        <p:spPr>
          <a:xfrm>
            <a:off x="3095244" y="214884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expérience touristique</a:t>
            </a:r>
            <a:endParaRPr lang="en-US" sz="1400" dirty="0"/>
          </a:p>
        </p:txBody>
      </p:sp>
      <p:sp>
        <p:nvSpPr>
          <p:cNvPr id="10" name="Chip intermodalité"/>
          <p:cNvSpPr/>
          <p:nvPr/>
        </p:nvSpPr>
        <p:spPr>
          <a:xfrm>
            <a:off x="548640" y="2770632"/>
            <a:ext cx="1613916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Chip texte intermodalité"/>
          <p:cNvSpPr txBox="1"/>
          <p:nvPr/>
        </p:nvSpPr>
        <p:spPr>
          <a:xfrm>
            <a:off x="548640" y="2770632"/>
            <a:ext cx="1613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intermodalité</a:t>
            </a:r>
            <a:endParaRPr lang="en-US" sz="1400" dirty="0"/>
          </a:p>
        </p:txBody>
      </p:sp>
      <p:sp>
        <p:nvSpPr>
          <p:cNvPr id="12" name="Chip billettique"/>
          <p:cNvSpPr/>
          <p:nvPr/>
        </p:nvSpPr>
        <p:spPr>
          <a:xfrm>
            <a:off x="2327148" y="2770632"/>
            <a:ext cx="142189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Chip texte billettique"/>
          <p:cNvSpPr txBox="1"/>
          <p:nvPr/>
        </p:nvSpPr>
        <p:spPr>
          <a:xfrm>
            <a:off x="2327148" y="2770632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billettique</a:t>
            </a:r>
            <a:endParaRPr lang="en-US" sz="1400" dirty="0"/>
          </a:p>
        </p:txBody>
      </p:sp>
      <p:sp>
        <p:nvSpPr>
          <p:cNvPr id="14" name="Chip accessibilité"/>
          <p:cNvSpPr/>
          <p:nvPr/>
        </p:nvSpPr>
        <p:spPr>
          <a:xfrm>
            <a:off x="3913632" y="2770632"/>
            <a:ext cx="1613916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Chip texte accessibilité"/>
          <p:cNvSpPr txBox="1"/>
          <p:nvPr/>
        </p:nvSpPr>
        <p:spPr>
          <a:xfrm>
            <a:off x="3913632" y="2770632"/>
            <a:ext cx="16139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accessibilité</a:t>
            </a:r>
            <a:endParaRPr lang="en-US" sz="1400" dirty="0"/>
          </a:p>
        </p:txBody>
      </p:sp>
      <p:sp>
        <p:nvSpPr>
          <p:cNvPr id="16" name="Chip mobilité douce"/>
          <p:cNvSpPr/>
          <p:nvPr/>
        </p:nvSpPr>
        <p:spPr>
          <a:xfrm>
            <a:off x="548640" y="3392424"/>
            <a:ext cx="1709928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Chip texte mobilité douce"/>
          <p:cNvSpPr txBox="1"/>
          <p:nvPr/>
        </p:nvSpPr>
        <p:spPr>
          <a:xfrm>
            <a:off x="548640" y="3392424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mobilité douce</a:t>
            </a:r>
            <a:endParaRPr lang="en-US" sz="1400" dirty="0"/>
          </a:p>
        </p:txBody>
      </p:sp>
      <p:sp>
        <p:nvSpPr>
          <p:cNvPr id="18" name="Chip slow travel"/>
          <p:cNvSpPr/>
          <p:nvPr/>
        </p:nvSpPr>
        <p:spPr>
          <a:xfrm>
            <a:off x="2423160" y="3392424"/>
            <a:ext cx="142189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Chip texte slow travel"/>
          <p:cNvSpPr txBox="1"/>
          <p:nvPr/>
        </p:nvSpPr>
        <p:spPr>
          <a:xfrm>
            <a:off x="2423160" y="3392424"/>
            <a:ext cx="14218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slow travel</a:t>
            </a:r>
            <a:endParaRPr lang="en-US" sz="1400" dirty="0"/>
          </a:p>
        </p:txBody>
      </p:sp>
      <p:sp>
        <p:nvSpPr>
          <p:cNvPr id="20" name="Chip transport durable"/>
          <p:cNvSpPr/>
          <p:nvPr/>
        </p:nvSpPr>
        <p:spPr>
          <a:xfrm>
            <a:off x="4009644" y="3392424"/>
            <a:ext cx="1997964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Chip texte transport durable"/>
          <p:cNvSpPr txBox="1"/>
          <p:nvPr/>
        </p:nvSpPr>
        <p:spPr>
          <a:xfrm>
            <a:off x="4009644" y="3392424"/>
            <a:ext cx="1997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transport durable</a:t>
            </a:r>
            <a:endParaRPr lang="en-US" sz="1400" dirty="0"/>
          </a:p>
        </p:txBody>
      </p:sp>
      <p:sp>
        <p:nvSpPr>
          <p:cNvPr id="22" name="Chip mode d'habiter temporaire"/>
          <p:cNvSpPr/>
          <p:nvPr/>
        </p:nvSpPr>
        <p:spPr>
          <a:xfrm>
            <a:off x="548640" y="4014216"/>
            <a:ext cx="276606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Chip texte mode d&amp;apos;habiter temporaire"/>
          <p:cNvSpPr txBox="1"/>
          <p:nvPr/>
        </p:nvSpPr>
        <p:spPr>
          <a:xfrm>
            <a:off x="548640" y="4014216"/>
            <a:ext cx="2766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 d'habiter temporaire</a:t>
            </a:r>
            <a:endParaRPr lang="en-US" sz="1400" dirty="0"/>
          </a:p>
        </p:txBody>
      </p:sp>
      <p:sp>
        <p:nvSpPr>
          <p:cNvPr id="24" name="Chip incertitude spatiale"/>
          <p:cNvSpPr/>
          <p:nvPr/>
        </p:nvSpPr>
        <p:spPr>
          <a:xfrm>
            <a:off x="3479292" y="4014216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Chip texte incertitude spatiale"/>
          <p:cNvSpPr txBox="1"/>
          <p:nvPr/>
        </p:nvSpPr>
        <p:spPr>
          <a:xfrm>
            <a:off x="3479292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incertitude spatiale</a:t>
            </a:r>
            <a:endParaRPr lang="en-US" sz="1400" dirty="0"/>
          </a:p>
        </p:txBody>
      </p:sp>
      <p:sp>
        <p:nvSpPr>
          <p:cNvPr id="26" name="Chip excursionniste"/>
          <p:cNvSpPr/>
          <p:nvPr/>
        </p:nvSpPr>
        <p:spPr>
          <a:xfrm>
            <a:off x="548640" y="4636008"/>
            <a:ext cx="1709928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Chip texte excursionniste"/>
          <p:cNvSpPr txBox="1"/>
          <p:nvPr/>
        </p:nvSpPr>
        <p:spPr>
          <a:xfrm>
            <a:off x="548640" y="463600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excursionniste</a:t>
            </a:r>
            <a:endParaRPr lang="en-US" sz="1400" dirty="0"/>
          </a:p>
        </p:txBody>
      </p:sp>
      <p:sp>
        <p:nvSpPr>
          <p:cNvPr id="28" name="Chip information voyageurs"/>
          <p:cNvSpPr/>
          <p:nvPr/>
        </p:nvSpPr>
        <p:spPr>
          <a:xfrm>
            <a:off x="2423160" y="4636008"/>
            <a:ext cx="2382012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Chip texte information voyageurs"/>
          <p:cNvSpPr txBox="1"/>
          <p:nvPr/>
        </p:nvSpPr>
        <p:spPr>
          <a:xfrm>
            <a:off x="2423160" y="4636008"/>
            <a:ext cx="2382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information voyageurs</a:t>
            </a:r>
            <a:endParaRPr lang="en-US" sz="1400" dirty="0"/>
          </a:p>
        </p:txBody>
      </p:sp>
      <p:sp>
        <p:nvSpPr>
          <p:cNvPr id="30" name="Chip mobilités touristiques"/>
          <p:cNvSpPr/>
          <p:nvPr/>
        </p:nvSpPr>
        <p:spPr>
          <a:xfrm>
            <a:off x="548640" y="5257800"/>
            <a:ext cx="2478024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Chip texte mobilités touristiques"/>
          <p:cNvSpPr txBox="1"/>
          <p:nvPr/>
        </p:nvSpPr>
        <p:spPr>
          <a:xfrm>
            <a:off x="548640" y="5257800"/>
            <a:ext cx="2478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mobilités touristiques</a:t>
            </a:r>
            <a:endParaRPr lang="en-US" sz="1400" dirty="0"/>
          </a:p>
        </p:txBody>
      </p:sp>
      <p:sp>
        <p:nvSpPr>
          <p:cNvPr id="32" name="Chip innovation des services"/>
          <p:cNvSpPr/>
          <p:nvPr/>
        </p:nvSpPr>
        <p:spPr>
          <a:xfrm>
            <a:off x="3191256" y="5257800"/>
            <a:ext cx="2574036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Chip texte innovation des services"/>
          <p:cNvSpPr txBox="1"/>
          <p:nvPr/>
        </p:nvSpPr>
        <p:spPr>
          <a:xfrm>
            <a:off x="3191256" y="5257800"/>
            <a:ext cx="2574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innovation des services</a:t>
            </a:r>
            <a:endParaRPr lang="en-US" sz="1400" dirty="0"/>
          </a:p>
        </p:txBody>
      </p:sp>
      <p:sp>
        <p:nvSpPr>
          <p:cNvPr id="34" name="Carte moteurs"/>
          <p:cNvSpPr/>
          <p:nvPr/>
        </p:nvSpPr>
        <p:spPr>
          <a:xfrm>
            <a:off x="7772400" y="1371600"/>
            <a:ext cx="3886200" cy="4754880"/>
          </a:xfrm>
          <a:prstGeom prst="roundRect">
            <a:avLst>
              <a:gd name="adj" fmla="val 28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Moteurs cercle"/>
          <p:cNvSpPr/>
          <p:nvPr/>
        </p:nvSpPr>
        <p:spPr>
          <a:xfrm>
            <a:off x="8092440" y="1645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6" name="Moteurs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114" y="1777594"/>
            <a:ext cx="285293" cy="285293"/>
          </a:xfrm>
          <a:prstGeom prst="rect">
            <a:avLst/>
          </a:prstGeom>
        </p:spPr>
      </p:pic>
      <p:sp>
        <p:nvSpPr>
          <p:cNvPr id="37" name="Label moteurs"/>
          <p:cNvSpPr txBox="1"/>
          <p:nvPr/>
        </p:nvSpPr>
        <p:spPr>
          <a:xfrm>
            <a:off x="87782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Moteurs de recherche</a:t>
            </a:r>
            <a:endParaRPr lang="en-US" sz="1800" dirty="0"/>
          </a:p>
        </p:txBody>
      </p:sp>
      <p:sp>
        <p:nvSpPr>
          <p:cNvPr id="38" name="Liste moteurs"/>
          <p:cNvSpPr txBox="1"/>
          <p:nvPr/>
        </p:nvSpPr>
        <p:spPr>
          <a:xfrm>
            <a:off x="8092440" y="24231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Google Scholar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Cairn.info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OpenEdition Journals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HAL (archives ouvertes)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Persée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Catalogue BU Paul-Valéry</a:t>
            </a:r>
            <a:endParaRPr lang="en-US" sz="1600" dirty="0"/>
          </a:p>
        </p:txBody>
      </p:sp>
      <p:sp>
        <p:nvSpPr>
          <p:cNvPr id="39" name="Combinaisons"/>
          <p:cNvSpPr txBox="1"/>
          <p:nvPr/>
        </p:nvSpPr>
        <p:spPr>
          <a:xfrm>
            <a:off x="8092440" y="52578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Combinaisons : « tourisme » ET « mobilité » ET « gare » / « transport 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: un article étudié par étudiant·e</a:t>
            </a:r>
            <a:endParaRPr lang="en-US" sz="3200" dirty="0"/>
          </a:p>
        </p:txBody>
      </p:sp>
      <p:sp>
        <p:nvSpPr>
          <p:cNvPr id="3" name="Carte article Juliette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E4A5C">
                <a:alpha val="18000"/>
              </a:srgbClr>
            </a:outerShdw>
          </a:effectLst>
        </p:spPr>
      </p:sp>
      <p:sp>
        <p:nvSpPr>
          <p:cNvPr id="4" name="Article Juliette cercl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Article Juliett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1821485"/>
            <a:ext cx="380390" cy="380390"/>
          </a:xfrm>
          <a:prstGeom prst="rect">
            <a:avLst/>
          </a:prstGeom>
        </p:spPr>
      </p:pic>
      <p:sp>
        <p:nvSpPr>
          <p:cNvPr id="6" name="Étudiant Juliette"/>
          <p:cNvSpPr txBox="1"/>
          <p:nvPr/>
        </p:nvSpPr>
        <p:spPr>
          <a:xfrm>
            <a:off x="178308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Juliette</a:t>
            </a:r>
            <a:endParaRPr lang="en-US" sz="1800" dirty="0"/>
          </a:p>
        </p:txBody>
      </p:sp>
      <p:sp>
        <p:nvSpPr>
          <p:cNvPr id="7" name="Référence Juliette"/>
          <p:cNvSpPr txBox="1"/>
          <p:nvPr/>
        </p:nvSpPr>
        <p:spPr>
          <a:xfrm>
            <a:off x="86868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Bigras &amp; Dostaler (2013)</a:t>
            </a:r>
            <a:endParaRPr lang="en-US" sz="1800" dirty="0"/>
          </a:p>
        </p:txBody>
      </p:sp>
      <p:sp>
        <p:nvSpPr>
          <p:cNvPr id="8" name="Titre article Juliette"/>
          <p:cNvSpPr txBox="1"/>
          <p:nvPr/>
        </p:nvSpPr>
        <p:spPr>
          <a:xfrm>
            <a:off x="868680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Tourisme et transport : vers une vision intégrée</a:t>
            </a:r>
            <a:endParaRPr lang="en-US" sz="1500" dirty="0"/>
          </a:p>
        </p:txBody>
      </p:sp>
      <p:sp>
        <p:nvSpPr>
          <p:cNvPr id="9" name="Encadré idée Juliette"/>
          <p:cNvSpPr/>
          <p:nvPr/>
        </p:nvSpPr>
        <p:spPr>
          <a:xfrm>
            <a:off x="731520" y="4069080"/>
            <a:ext cx="3154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abel idée Juliette"/>
          <p:cNvSpPr txBox="1"/>
          <p:nvPr/>
        </p:nvSpPr>
        <p:spPr>
          <a:xfrm>
            <a:off x="914400" y="4206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Idée clé</a:t>
            </a:r>
            <a:endParaRPr lang="en-US" sz="1300" dirty="0"/>
          </a:p>
        </p:txBody>
      </p:sp>
      <p:sp>
        <p:nvSpPr>
          <p:cNvPr id="11" name="Idée Juliette"/>
          <p:cNvSpPr txBox="1"/>
          <p:nvPr/>
        </p:nvSpPr>
        <p:spPr>
          <a:xfrm>
            <a:off x="914400" y="45262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transport fait partie de l'expérience touristique : s'il déçoit, tout le séjour en pâtit.</a:t>
            </a:r>
            <a:endParaRPr lang="en-US" sz="1500" dirty="0"/>
          </a:p>
        </p:txBody>
      </p:sp>
      <p:sp>
        <p:nvSpPr>
          <p:cNvPr id="12" name="Carte article Sarah"/>
          <p:cNvSpPr/>
          <p:nvPr/>
        </p:nvSpPr>
        <p:spPr>
          <a:xfrm>
            <a:off x="434340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E4A5C">
                <a:alpha val="18000"/>
              </a:srgbClr>
            </a:outerShdw>
          </a:effectLst>
        </p:spPr>
      </p:sp>
      <p:sp>
        <p:nvSpPr>
          <p:cNvPr id="13" name="Article Sarah cercle"/>
          <p:cNvSpPr/>
          <p:nvPr/>
        </p:nvSpPr>
        <p:spPr>
          <a:xfrm>
            <a:off x="466344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rticle Sarah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05" y="1821485"/>
            <a:ext cx="380390" cy="380390"/>
          </a:xfrm>
          <a:prstGeom prst="rect">
            <a:avLst/>
          </a:prstGeom>
        </p:spPr>
      </p:pic>
      <p:sp>
        <p:nvSpPr>
          <p:cNvPr id="15" name="Étudiant Sarah"/>
          <p:cNvSpPr txBox="1"/>
          <p:nvPr/>
        </p:nvSpPr>
        <p:spPr>
          <a:xfrm>
            <a:off x="55778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Sarah</a:t>
            </a:r>
            <a:endParaRPr lang="en-US" sz="1800" dirty="0"/>
          </a:p>
        </p:txBody>
      </p:sp>
      <p:sp>
        <p:nvSpPr>
          <p:cNvPr id="16" name="Référence Sarah"/>
          <p:cNvSpPr txBox="1"/>
          <p:nvPr/>
        </p:nvSpPr>
        <p:spPr>
          <a:xfrm>
            <a:off x="466344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Knafou et al. (1997)</a:t>
            </a:r>
            <a:endParaRPr lang="en-US" sz="1800" dirty="0"/>
          </a:p>
        </p:txBody>
      </p:sp>
      <p:sp>
        <p:nvSpPr>
          <p:cNvPr id="17" name="Titre article Sarah"/>
          <p:cNvSpPr txBox="1"/>
          <p:nvPr/>
        </p:nvSpPr>
        <p:spPr>
          <a:xfrm>
            <a:off x="4663440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Une approche géographique du tourisme</a:t>
            </a:r>
            <a:endParaRPr lang="en-US" sz="1500" dirty="0"/>
          </a:p>
        </p:txBody>
      </p:sp>
      <p:sp>
        <p:nvSpPr>
          <p:cNvPr id="18" name="Encadré idée Sarah"/>
          <p:cNvSpPr/>
          <p:nvPr/>
        </p:nvSpPr>
        <p:spPr>
          <a:xfrm>
            <a:off x="4526280" y="4069080"/>
            <a:ext cx="3154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Label idée Sarah"/>
          <p:cNvSpPr txBox="1"/>
          <p:nvPr/>
        </p:nvSpPr>
        <p:spPr>
          <a:xfrm>
            <a:off x="4709160" y="4206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Idée clé</a:t>
            </a:r>
            <a:endParaRPr lang="en-US" sz="1300" dirty="0"/>
          </a:p>
        </p:txBody>
      </p:sp>
      <p:sp>
        <p:nvSpPr>
          <p:cNvPr id="20" name="Idée Sarah"/>
          <p:cNvSpPr txBox="1"/>
          <p:nvPr/>
        </p:nvSpPr>
        <p:spPr>
          <a:xfrm>
            <a:off x="4709160" y="45262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tourisme est un mode d'habiter temporaire : le visiteur doit vite se créer des repères.</a:t>
            </a:r>
            <a:endParaRPr lang="en-US" sz="1500" dirty="0"/>
          </a:p>
        </p:txBody>
      </p:sp>
      <p:sp>
        <p:nvSpPr>
          <p:cNvPr id="21" name="Carte article Hamza"/>
          <p:cNvSpPr/>
          <p:nvPr/>
        </p:nvSpPr>
        <p:spPr>
          <a:xfrm>
            <a:off x="813816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E4A5C">
                <a:alpha val="18000"/>
              </a:srgbClr>
            </a:outerShdw>
          </a:effectLst>
        </p:spPr>
      </p:sp>
      <p:sp>
        <p:nvSpPr>
          <p:cNvPr id="22" name="Article Hamza cercle"/>
          <p:cNvSpPr/>
          <p:nvPr/>
        </p:nvSpPr>
        <p:spPr>
          <a:xfrm>
            <a:off x="8458200" y="16459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Article Hamza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5" y="1821485"/>
            <a:ext cx="380390" cy="380390"/>
          </a:xfrm>
          <a:prstGeom prst="rect">
            <a:avLst/>
          </a:prstGeom>
        </p:spPr>
      </p:pic>
      <p:sp>
        <p:nvSpPr>
          <p:cNvPr id="24" name="Étudiant Hamza"/>
          <p:cNvSpPr txBox="1"/>
          <p:nvPr/>
        </p:nvSpPr>
        <p:spPr>
          <a:xfrm>
            <a:off x="93726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Hamza</a:t>
            </a:r>
            <a:endParaRPr lang="en-US" sz="1800" dirty="0"/>
          </a:p>
        </p:txBody>
      </p:sp>
      <p:sp>
        <p:nvSpPr>
          <p:cNvPr id="25" name="Référence Hamza"/>
          <p:cNvSpPr txBox="1"/>
          <p:nvPr/>
        </p:nvSpPr>
        <p:spPr>
          <a:xfrm>
            <a:off x="845820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Urbain (2002)</a:t>
            </a:r>
            <a:endParaRPr lang="en-US" sz="1800" dirty="0"/>
          </a:p>
        </p:txBody>
      </p:sp>
      <p:sp>
        <p:nvSpPr>
          <p:cNvPr id="26" name="Titre article Hamza"/>
          <p:cNvSpPr txBox="1"/>
          <p:nvPr/>
        </p:nvSpPr>
        <p:spPr>
          <a:xfrm>
            <a:off x="8458200" y="3063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Tourisme et mobilités : héritages, évolutions, innovations, tendances</a:t>
            </a:r>
            <a:endParaRPr lang="en-US" sz="1500" dirty="0"/>
          </a:p>
        </p:txBody>
      </p:sp>
      <p:sp>
        <p:nvSpPr>
          <p:cNvPr id="27" name="Encadré idée Hamza"/>
          <p:cNvSpPr/>
          <p:nvPr/>
        </p:nvSpPr>
        <p:spPr>
          <a:xfrm>
            <a:off x="8321040" y="4069080"/>
            <a:ext cx="31546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Label idée Hamza"/>
          <p:cNvSpPr txBox="1"/>
          <p:nvPr/>
        </p:nvSpPr>
        <p:spPr>
          <a:xfrm>
            <a:off x="8503920" y="42062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Idée clé</a:t>
            </a:r>
            <a:endParaRPr lang="en-US" sz="1300" dirty="0"/>
          </a:p>
        </p:txBody>
      </p:sp>
      <p:sp>
        <p:nvSpPr>
          <p:cNvPr id="29" name="Idée Hamza"/>
          <p:cNvSpPr txBox="1"/>
          <p:nvPr/>
        </p:nvSpPr>
        <p:spPr>
          <a:xfrm>
            <a:off x="8503920" y="4526280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voyageurs veulent plus d'autonomie et de choix : l'information et les services sont décisifs.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: se déplacer fait partie de l'expérience</a:t>
            </a:r>
            <a:endParaRPr lang="en-US" sz="3200" dirty="0"/>
          </a:p>
        </p:txBody>
      </p:sp>
      <p:pic>
        <p:nvPicPr>
          <p:cNvPr id="3" name="Photo façade" descr="/tmp/claude-0/-home-user-online-cv/ee39b21c-a5a8-5008-a843-7fe60c1fd8b5/scratchpad/deck/img/facade_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3566160"/>
          </a:xfrm>
          <a:prstGeom prst="rect">
            <a:avLst/>
          </a:prstGeom>
        </p:spPr>
      </p:pic>
      <p:sp>
        <p:nvSpPr>
          <p:cNvPr id="4" name="Idée générale"/>
          <p:cNvSpPr txBox="1"/>
          <p:nvPr/>
        </p:nvSpPr>
        <p:spPr>
          <a:xfrm>
            <a:off x="548640" y="50749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Pour un visiteur qui découvre un territoire, se déplacer n'est pas seulement une question de distance : il doit aussi s'orienter, s'informer et organiser ses trajets seul.</a:t>
            </a:r>
            <a:endParaRPr lang="en-US" sz="1500" dirty="0"/>
          </a:p>
        </p:txBody>
      </p:sp>
      <p:sp>
        <p:nvSpPr>
          <p:cNvPr id="5" name="Groupe notions Bigras &amp;amp; Dostaler"/>
          <p:cNvSpPr txBox="1"/>
          <p:nvPr/>
        </p:nvSpPr>
        <p:spPr>
          <a:xfrm>
            <a:off x="5212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Bigras &amp; Dostaler</a:t>
            </a:r>
            <a:endParaRPr lang="en-US" sz="1600" dirty="0"/>
          </a:p>
        </p:txBody>
      </p:sp>
      <p:sp>
        <p:nvSpPr>
          <p:cNvPr id="6" name="Notion Accessibilité"/>
          <p:cNvSpPr/>
          <p:nvPr/>
        </p:nvSpPr>
        <p:spPr>
          <a:xfrm>
            <a:off x="5212080" y="182880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otion texte Accessibilité"/>
          <p:cNvSpPr txBox="1"/>
          <p:nvPr/>
        </p:nvSpPr>
        <p:spPr>
          <a:xfrm>
            <a:off x="5212080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Accessibilité</a:t>
            </a:r>
            <a:endParaRPr lang="en-US" sz="1600" dirty="0"/>
          </a:p>
        </p:txBody>
      </p:sp>
      <p:sp>
        <p:nvSpPr>
          <p:cNvPr id="8" name="Notion Saturation"/>
          <p:cNvSpPr/>
          <p:nvPr/>
        </p:nvSpPr>
        <p:spPr>
          <a:xfrm>
            <a:off x="6839712" y="182880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Notion texte Saturation"/>
          <p:cNvSpPr txBox="1"/>
          <p:nvPr/>
        </p:nvSpPr>
        <p:spPr>
          <a:xfrm>
            <a:off x="6839712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Saturation</a:t>
            </a:r>
            <a:endParaRPr lang="en-US" sz="1600" dirty="0"/>
          </a:p>
        </p:txBody>
      </p:sp>
      <p:sp>
        <p:nvSpPr>
          <p:cNvPr id="10" name="Notion Durabilité"/>
          <p:cNvSpPr/>
          <p:nvPr/>
        </p:nvSpPr>
        <p:spPr>
          <a:xfrm>
            <a:off x="8467344" y="182880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otion texte Durabilité"/>
          <p:cNvSpPr txBox="1"/>
          <p:nvPr/>
        </p:nvSpPr>
        <p:spPr>
          <a:xfrm>
            <a:off x="8467344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Durabilité</a:t>
            </a:r>
            <a:endParaRPr lang="en-US" sz="1600" dirty="0"/>
          </a:p>
        </p:txBody>
      </p:sp>
      <p:sp>
        <p:nvSpPr>
          <p:cNvPr id="12" name="Notion Fiabilité"/>
          <p:cNvSpPr/>
          <p:nvPr/>
        </p:nvSpPr>
        <p:spPr>
          <a:xfrm>
            <a:off x="10094976" y="182880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otion texte Fiabilité"/>
          <p:cNvSpPr txBox="1"/>
          <p:nvPr/>
        </p:nvSpPr>
        <p:spPr>
          <a:xfrm>
            <a:off x="10094976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Fiabilité</a:t>
            </a:r>
            <a:endParaRPr lang="en-US" sz="1600" dirty="0"/>
          </a:p>
        </p:txBody>
      </p:sp>
      <p:sp>
        <p:nvSpPr>
          <p:cNvPr id="14" name="Groupe notions Knafou et al."/>
          <p:cNvSpPr txBox="1"/>
          <p:nvPr/>
        </p:nvSpPr>
        <p:spPr>
          <a:xfrm>
            <a:off x="521208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Knafou et al.</a:t>
            </a:r>
            <a:endParaRPr lang="en-US" sz="1600" dirty="0"/>
          </a:p>
        </p:txBody>
      </p:sp>
      <p:sp>
        <p:nvSpPr>
          <p:cNvPr id="15" name="Notion Repères"/>
          <p:cNvSpPr/>
          <p:nvPr/>
        </p:nvSpPr>
        <p:spPr>
          <a:xfrm>
            <a:off x="5212080" y="3474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otion texte Repères"/>
          <p:cNvSpPr txBox="1"/>
          <p:nvPr/>
        </p:nvSpPr>
        <p:spPr>
          <a:xfrm>
            <a:off x="5212080" y="3474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Repères</a:t>
            </a:r>
            <a:endParaRPr lang="en-US" sz="1600" dirty="0"/>
          </a:p>
        </p:txBody>
      </p:sp>
      <p:sp>
        <p:nvSpPr>
          <p:cNvPr id="17" name="Notion Lisibilité"/>
          <p:cNvSpPr/>
          <p:nvPr/>
        </p:nvSpPr>
        <p:spPr>
          <a:xfrm>
            <a:off x="6839712" y="3474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otion texte Lisibilité"/>
          <p:cNvSpPr txBox="1"/>
          <p:nvPr/>
        </p:nvSpPr>
        <p:spPr>
          <a:xfrm>
            <a:off x="6839712" y="3474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Lisibilité</a:t>
            </a:r>
            <a:endParaRPr lang="en-US" sz="1600" dirty="0"/>
          </a:p>
        </p:txBody>
      </p:sp>
      <p:sp>
        <p:nvSpPr>
          <p:cNvPr id="19" name="Notion Clarté"/>
          <p:cNvSpPr/>
          <p:nvPr/>
        </p:nvSpPr>
        <p:spPr>
          <a:xfrm>
            <a:off x="8467344" y="3474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otion texte Clarté"/>
          <p:cNvSpPr txBox="1"/>
          <p:nvPr/>
        </p:nvSpPr>
        <p:spPr>
          <a:xfrm>
            <a:off x="8467344" y="3474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Clarté</a:t>
            </a:r>
            <a:endParaRPr lang="en-US" sz="1600" dirty="0"/>
          </a:p>
        </p:txBody>
      </p:sp>
      <p:sp>
        <p:nvSpPr>
          <p:cNvPr id="21" name="Notion Rapidité"/>
          <p:cNvSpPr/>
          <p:nvPr/>
        </p:nvSpPr>
        <p:spPr>
          <a:xfrm>
            <a:off x="10094976" y="347472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otion texte Rapidité"/>
          <p:cNvSpPr txBox="1"/>
          <p:nvPr/>
        </p:nvSpPr>
        <p:spPr>
          <a:xfrm>
            <a:off x="10094976" y="34747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Rapidité</a:t>
            </a:r>
            <a:endParaRPr lang="en-US" sz="1600" dirty="0"/>
          </a:p>
        </p:txBody>
      </p:sp>
      <p:sp>
        <p:nvSpPr>
          <p:cNvPr id="23" name="Groupe notions Urbain"/>
          <p:cNvSpPr txBox="1"/>
          <p:nvPr/>
        </p:nvSpPr>
        <p:spPr>
          <a:xfrm>
            <a:off x="521208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Urbain</a:t>
            </a:r>
            <a:endParaRPr lang="en-US" sz="1600" dirty="0"/>
          </a:p>
        </p:txBody>
      </p:sp>
      <p:sp>
        <p:nvSpPr>
          <p:cNvPr id="24" name="Notion Autonomie"/>
          <p:cNvSpPr/>
          <p:nvPr/>
        </p:nvSpPr>
        <p:spPr>
          <a:xfrm>
            <a:off x="5212080" y="512064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Notion texte Autonomie"/>
          <p:cNvSpPr txBox="1"/>
          <p:nvPr/>
        </p:nvSpPr>
        <p:spPr>
          <a:xfrm>
            <a:off x="521208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Autonomie</a:t>
            </a:r>
            <a:endParaRPr lang="en-US" sz="1600" dirty="0"/>
          </a:p>
        </p:txBody>
      </p:sp>
      <p:sp>
        <p:nvSpPr>
          <p:cNvPr id="26" name="Notion Choix"/>
          <p:cNvSpPr/>
          <p:nvPr/>
        </p:nvSpPr>
        <p:spPr>
          <a:xfrm>
            <a:off x="6839712" y="512064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Notion texte Choix"/>
          <p:cNvSpPr txBox="1"/>
          <p:nvPr/>
        </p:nvSpPr>
        <p:spPr>
          <a:xfrm>
            <a:off x="6839712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Choix</a:t>
            </a:r>
            <a:endParaRPr lang="en-US" sz="1600" dirty="0"/>
          </a:p>
        </p:txBody>
      </p:sp>
      <p:sp>
        <p:nvSpPr>
          <p:cNvPr id="28" name="Notion Flexibilité"/>
          <p:cNvSpPr/>
          <p:nvPr/>
        </p:nvSpPr>
        <p:spPr>
          <a:xfrm>
            <a:off x="8467344" y="512064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Notion texte Flexibilité"/>
          <p:cNvSpPr txBox="1"/>
          <p:nvPr/>
        </p:nvSpPr>
        <p:spPr>
          <a:xfrm>
            <a:off x="8467344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Flexibilité</a:t>
            </a:r>
            <a:endParaRPr lang="en-US" sz="1600" dirty="0"/>
          </a:p>
        </p:txBody>
      </p:sp>
      <p:sp>
        <p:nvSpPr>
          <p:cNvPr id="30" name="Notion Information"/>
          <p:cNvSpPr/>
          <p:nvPr/>
        </p:nvSpPr>
        <p:spPr>
          <a:xfrm>
            <a:off x="10094976" y="5120640"/>
            <a:ext cx="14630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Notion texte Information"/>
          <p:cNvSpPr txBox="1"/>
          <p:nvPr/>
        </p:nvSpPr>
        <p:spPr>
          <a:xfrm>
            <a:off x="10094976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Information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Bigras &amp; Dostaler : une vision intégrée</a:t>
            </a:r>
            <a:endParaRPr lang="en-US" sz="3200" dirty="0"/>
          </a:p>
        </p:txBody>
      </p:sp>
      <p:sp>
        <p:nvSpPr>
          <p:cNvPr id="3" name="Label notions B&amp;amp;D"/>
          <p:cNvSpPr txBox="1"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Notions de l'article</a:t>
            </a:r>
            <a:endParaRPr lang="en-US" sz="2000" dirty="0"/>
          </a:p>
        </p:txBody>
      </p:sp>
      <p:sp>
        <p:nvSpPr>
          <p:cNvPr id="4" name="Notions B&amp;D"/>
          <p:cNvSpPr txBox="1"/>
          <p:nvPr/>
        </p:nvSpPr>
        <p:spPr>
          <a:xfrm>
            <a:off x="548640" y="1874520"/>
            <a:ext cx="53949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Accessibilité 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ne suffit pas seule : il faut aussi de l'attractivité</a:t>
            </a:r>
            <a:endParaRPr lang="en-US" sz="17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Congestion &amp; saturation 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infrastructures vieillissantes, éprouvantes pour le touriste</a:t>
            </a:r>
            <a:endParaRPr lang="en-US" sz="17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Intermodalité &amp; billettique 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conditions d'un tourisme durable (PEM, gares)</a:t>
            </a:r>
            <a:endParaRPr lang="en-US" sz="17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Mobilité douce &amp; slow travel 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réduire la place de la voiture au profit des TC</a:t>
            </a:r>
            <a:endParaRPr lang="en-US" sz="17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Politiques publiques : </a:t>
            </a:r>
            <a:pPr indent="0" marL="0">
              <a:spcAft>
                <a:spcPts val="1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coordination entre acteurs publics et privés</a:t>
            </a:r>
            <a:endParaRPr lang="en-US" sz="1700" dirty="0"/>
          </a:p>
        </p:txBody>
      </p:sp>
      <p:sp>
        <p:nvSpPr>
          <p:cNvPr id="5" name="Carte lien terrain B&amp;D"/>
          <p:cNvSpPr/>
          <p:nvPr/>
        </p:nvSpPr>
        <p:spPr>
          <a:xfrm>
            <a:off x="6400800" y="1325880"/>
            <a:ext cx="525780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abel terrain B&amp;amp;D"/>
          <p:cNvSpPr txBox="1"/>
          <p:nvPr/>
        </p:nvSpPr>
        <p:spPr>
          <a:xfrm>
            <a:off x="6720840" y="1554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Lien avec la gare Saint-Roch</a:t>
            </a:r>
            <a:endParaRPr lang="en-US" sz="2000" dirty="0"/>
          </a:p>
        </p:txBody>
      </p:sp>
      <p:sp>
        <p:nvSpPr>
          <p:cNvPr id="7" name="B&amp;D Accessibilité cercle"/>
          <p:cNvSpPr/>
          <p:nvPr/>
        </p:nvSpPr>
        <p:spPr>
          <a:xfrm>
            <a:off x="6720840" y="2148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B&amp;D Accessibilité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2514" y="2280514"/>
            <a:ext cx="285293" cy="285293"/>
          </a:xfrm>
          <a:prstGeom prst="rect">
            <a:avLst/>
          </a:prstGeom>
        </p:spPr>
      </p:pic>
      <p:sp>
        <p:nvSpPr>
          <p:cNvPr id="9" name="B&amp;D terrain Accessibilité"/>
          <p:cNvSpPr txBox="1"/>
          <p:nvPr/>
        </p:nvSpPr>
        <p:spPr>
          <a:xfrm>
            <a:off x="7452360" y="2103120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Accessibilité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très bonne à pied et en TC ; complexe en voiture (congestion du centre-ville)</a:t>
            </a:r>
            <a:endParaRPr lang="en-US" sz="1400" dirty="0"/>
          </a:p>
        </p:txBody>
      </p:sp>
      <p:sp>
        <p:nvSpPr>
          <p:cNvPr id="10" name="B&amp;D Saturation cercle"/>
          <p:cNvSpPr/>
          <p:nvPr/>
        </p:nvSpPr>
        <p:spPr>
          <a:xfrm>
            <a:off x="6720840" y="31363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B&amp;D Saturation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14" y="3268066"/>
            <a:ext cx="285293" cy="285293"/>
          </a:xfrm>
          <a:prstGeom prst="rect">
            <a:avLst/>
          </a:prstGeom>
        </p:spPr>
      </p:pic>
      <p:sp>
        <p:nvSpPr>
          <p:cNvPr id="12" name="B&amp;D terrain Saturation"/>
          <p:cNvSpPr txBox="1"/>
          <p:nvPr/>
        </p:nvSpPr>
        <p:spPr>
          <a:xfrm>
            <a:off x="7452360" y="3090672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Saturation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TC saturés en heure de pointe ; Vélomagg' parfois vides selon l'horaire</a:t>
            </a:r>
            <a:endParaRPr lang="en-US" sz="1400" dirty="0"/>
          </a:p>
        </p:txBody>
      </p:sp>
      <p:sp>
        <p:nvSpPr>
          <p:cNvPr id="13" name="B&amp;D Durabilité cercle"/>
          <p:cNvSpPr/>
          <p:nvPr/>
        </p:nvSpPr>
        <p:spPr>
          <a:xfrm>
            <a:off x="6720840" y="412394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B&amp;D Durabilité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14" y="4255618"/>
            <a:ext cx="285293" cy="285293"/>
          </a:xfrm>
          <a:prstGeom prst="rect">
            <a:avLst/>
          </a:prstGeom>
        </p:spPr>
      </p:pic>
      <p:sp>
        <p:nvSpPr>
          <p:cNvPr id="15" name="B&amp;D terrain Durabilité"/>
          <p:cNvSpPr txBox="1"/>
          <p:nvPr/>
        </p:nvSpPr>
        <p:spPr>
          <a:xfrm>
            <a:off x="7452360" y="4078224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Durabilité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 choix de modes grâce à l'intermodalité de la gare</a:t>
            </a:r>
            <a:endParaRPr lang="en-US" sz="1400" dirty="0"/>
          </a:p>
        </p:txBody>
      </p:sp>
      <p:sp>
        <p:nvSpPr>
          <p:cNvPr id="16" name="B&amp;D Fiabilité cercle"/>
          <p:cNvSpPr/>
          <p:nvPr/>
        </p:nvSpPr>
        <p:spPr>
          <a:xfrm>
            <a:off x="6720840" y="51114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B&amp;D Fiabilité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14" y="5243170"/>
            <a:ext cx="285293" cy="285293"/>
          </a:xfrm>
          <a:prstGeom prst="rect">
            <a:avLst/>
          </a:prstGeom>
        </p:spPr>
      </p:pic>
      <p:sp>
        <p:nvSpPr>
          <p:cNvPr id="18" name="B&amp;D terrain Fiabilité"/>
          <p:cNvSpPr txBox="1"/>
          <p:nvPr/>
        </p:nvSpPr>
        <p:spPr>
          <a:xfrm>
            <a:off x="7452360" y="5065776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Fiabilité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à mesurer sur le terrain : retards, attente, correspondances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Knafou et al. : le visiteur habite temporairement</a:t>
            </a:r>
            <a:endParaRPr lang="en-US" sz="3200" dirty="0"/>
          </a:p>
        </p:txBody>
      </p:sp>
      <p:sp>
        <p:nvSpPr>
          <p:cNvPr id="3" name="Carte Knafou Pratique spatiale"/>
          <p:cNvSpPr/>
          <p:nvPr/>
        </p:nvSpPr>
        <p:spPr>
          <a:xfrm>
            <a:off x="548640" y="1371600"/>
            <a:ext cx="34290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nafou Pratique spatiale ce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Knafou Pratique spatial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Knafou titre Pratique spatiale"/>
          <p:cNvSpPr txBox="1"/>
          <p:nvPr/>
        </p:nvSpPr>
        <p:spPr>
          <a:xfrm>
            <a:off x="150876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Pratique spatiale</a:t>
            </a:r>
            <a:endParaRPr lang="en-US" sz="1600" dirty="0"/>
          </a:p>
        </p:txBody>
      </p:sp>
      <p:sp>
        <p:nvSpPr>
          <p:cNvPr id="7" name="Knafou texte Pratique spatiale"/>
          <p:cNvSpPr txBox="1"/>
          <p:nvPr/>
        </p:nvSpPr>
        <p:spPr>
          <a:xfrm>
            <a:off x="822960" y="23317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Dès la sortie du train, le visiteur doit s'approprier le réseau urbain (tram, bus, vélos).</a:t>
            </a:r>
            <a:endParaRPr lang="en-US" sz="1400" dirty="0"/>
          </a:p>
        </p:txBody>
      </p:sp>
      <p:sp>
        <p:nvSpPr>
          <p:cNvPr id="8" name="Carte Knafou Mode d'habiter temporaire"/>
          <p:cNvSpPr/>
          <p:nvPr/>
        </p:nvSpPr>
        <p:spPr>
          <a:xfrm>
            <a:off x="4206240" y="1371600"/>
            <a:ext cx="34290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nafou Mode d'habiter temporaire cercle"/>
          <p:cNvSpPr/>
          <p:nvPr/>
        </p:nvSpPr>
        <p:spPr>
          <a:xfrm>
            <a:off x="44805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Knafou Mode d'habiter temporaire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34" y="1777594"/>
            <a:ext cx="285293" cy="285293"/>
          </a:xfrm>
          <a:prstGeom prst="rect">
            <a:avLst/>
          </a:prstGeom>
        </p:spPr>
      </p:pic>
      <p:sp>
        <p:nvSpPr>
          <p:cNvPr id="11" name="Knafou titre Mode d&amp;apos;habiter temporaire"/>
          <p:cNvSpPr txBox="1"/>
          <p:nvPr/>
        </p:nvSpPr>
        <p:spPr>
          <a:xfrm>
            <a:off x="5166360" y="1645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 d'habiter temporaire</a:t>
            </a:r>
            <a:endParaRPr lang="en-US" sz="1600" dirty="0"/>
          </a:p>
        </p:txBody>
      </p:sp>
      <p:sp>
        <p:nvSpPr>
          <p:cNvPr id="12" name="Knafou texte Mode d&amp;apos;habiter temporaire"/>
          <p:cNvSpPr txBox="1"/>
          <p:nvPr/>
        </p:nvSpPr>
        <p:spPr>
          <a:xfrm>
            <a:off x="4480560" y="23317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Contrairement au résident, il doit apprendre très vite à s'orienter et à utiliser le réseau TAM.</a:t>
            </a:r>
            <a:endParaRPr lang="en-US" sz="1400" dirty="0"/>
          </a:p>
        </p:txBody>
      </p:sp>
      <p:sp>
        <p:nvSpPr>
          <p:cNvPr id="13" name="Carte Knafou Incertitude spatiale"/>
          <p:cNvSpPr/>
          <p:nvPr/>
        </p:nvSpPr>
        <p:spPr>
          <a:xfrm>
            <a:off x="548640" y="3794760"/>
            <a:ext cx="34290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nafou Incertitude spatiale cercle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Knafou Incertitude spatiale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200754"/>
            <a:ext cx="285293" cy="285293"/>
          </a:xfrm>
          <a:prstGeom prst="rect">
            <a:avLst/>
          </a:prstGeom>
        </p:spPr>
      </p:pic>
      <p:sp>
        <p:nvSpPr>
          <p:cNvPr id="16" name="Knafou titre Incertitude spatiale"/>
          <p:cNvSpPr txBox="1"/>
          <p:nvPr/>
        </p:nvSpPr>
        <p:spPr>
          <a:xfrm>
            <a:off x="150876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Incertitude spatiale</a:t>
            </a:r>
            <a:endParaRPr lang="en-US" sz="1600" dirty="0"/>
          </a:p>
        </p:txBody>
      </p:sp>
      <p:sp>
        <p:nvSpPr>
          <p:cNvPr id="17" name="Knafou texte Incertitude spatiale"/>
          <p:cNvSpPr txBox="1"/>
          <p:nvPr/>
        </p:nvSpPr>
        <p:spPr>
          <a:xfrm>
            <a:off x="822960" y="47548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Stress à l'arrivée : où est la sortie ? quel tram ? comment faire la correspondance ?</a:t>
            </a:r>
            <a:endParaRPr lang="en-US" sz="1400" dirty="0"/>
          </a:p>
        </p:txBody>
      </p:sp>
      <p:sp>
        <p:nvSpPr>
          <p:cNvPr id="18" name="Carte Knafou Lisibilité du territoire"/>
          <p:cNvSpPr/>
          <p:nvPr/>
        </p:nvSpPr>
        <p:spPr>
          <a:xfrm>
            <a:off x="4206240" y="3794760"/>
            <a:ext cx="34290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Knafou Lisibilité du territoire cercle"/>
          <p:cNvSpPr/>
          <p:nvPr/>
        </p:nvSpPr>
        <p:spPr>
          <a:xfrm>
            <a:off x="4480560" y="4069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Knafou Lisibilité du territoire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234" y="4200754"/>
            <a:ext cx="285293" cy="285293"/>
          </a:xfrm>
          <a:prstGeom prst="rect">
            <a:avLst/>
          </a:prstGeom>
        </p:spPr>
      </p:pic>
      <p:sp>
        <p:nvSpPr>
          <p:cNvPr id="21" name="Knafou titre Lisibilité du territoire"/>
          <p:cNvSpPr txBox="1"/>
          <p:nvPr/>
        </p:nvSpPr>
        <p:spPr>
          <a:xfrm>
            <a:off x="516636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Lisibilité du territoire</a:t>
            </a:r>
            <a:endParaRPr lang="en-US" sz="1600" dirty="0"/>
          </a:p>
        </p:txBody>
      </p:sp>
      <p:sp>
        <p:nvSpPr>
          <p:cNvPr id="22" name="Knafou texte Lisibilité du territoire"/>
          <p:cNvSpPr txBox="1"/>
          <p:nvPr/>
        </p:nvSpPr>
        <p:spPr>
          <a:xfrm>
            <a:off x="4480560" y="47548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Signalétique interne et visibilité des accès au tram conditionnent la fluidité du parcours.</a:t>
            </a:r>
            <a:endParaRPr lang="en-US" sz="1400" dirty="0"/>
          </a:p>
        </p:txBody>
      </p:sp>
      <p:sp>
        <p:nvSpPr>
          <p:cNvPr id="23" name="Label publics"/>
          <p:cNvSpPr txBox="1"/>
          <p:nvPr/>
        </p:nvSpPr>
        <p:spPr>
          <a:xfrm>
            <a:off x="809244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Deux publics à distinguer</a:t>
            </a:r>
            <a:endParaRPr lang="en-US" sz="1800" dirty="0"/>
          </a:p>
        </p:txBody>
      </p:sp>
      <p:sp>
        <p:nvSpPr>
          <p:cNvPr id="24" name="Carte Touriste"/>
          <p:cNvSpPr/>
          <p:nvPr/>
        </p:nvSpPr>
        <p:spPr>
          <a:xfrm>
            <a:off x="8092440" y="192024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Public Touriste cercle"/>
          <p:cNvSpPr/>
          <p:nvPr/>
        </p:nvSpPr>
        <p:spPr>
          <a:xfrm>
            <a:off x="8321040" y="214884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Public Touriste icô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714" y="2280514"/>
            <a:ext cx="285293" cy="285293"/>
          </a:xfrm>
          <a:prstGeom prst="rect">
            <a:avLst/>
          </a:prstGeom>
        </p:spPr>
      </p:pic>
      <p:sp>
        <p:nvSpPr>
          <p:cNvPr id="27" name="Public titre Touriste"/>
          <p:cNvSpPr txBox="1"/>
          <p:nvPr/>
        </p:nvSpPr>
        <p:spPr>
          <a:xfrm>
            <a:off x="9006840" y="212140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Touriste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avec nuitée</a:t>
            </a:r>
            <a:endParaRPr lang="en-US" sz="1700" dirty="0"/>
          </a:p>
        </p:txBody>
      </p:sp>
      <p:sp>
        <p:nvSpPr>
          <p:cNvPr id="28" name="Public texte Touriste"/>
          <p:cNvSpPr txBox="1"/>
          <p:nvPr/>
        </p:nvSpPr>
        <p:spPr>
          <a:xfrm>
            <a:off x="8321040" y="28346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S'installe dans un hébergement et explore le territoire à partir de ce point.</a:t>
            </a:r>
            <a:endParaRPr lang="en-US" sz="1400" dirty="0"/>
          </a:p>
        </p:txBody>
      </p:sp>
      <p:sp>
        <p:nvSpPr>
          <p:cNvPr id="29" name="Carte Excursionniste"/>
          <p:cNvSpPr/>
          <p:nvPr/>
        </p:nvSpPr>
        <p:spPr>
          <a:xfrm>
            <a:off x="8092440" y="4069080"/>
            <a:ext cx="3566160" cy="1965960"/>
          </a:xfrm>
          <a:prstGeom prst="roundRect">
            <a:avLst>
              <a:gd name="adj" fmla="val 558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Public Excursionniste cercle"/>
          <p:cNvSpPr/>
          <p:nvPr/>
        </p:nvSpPr>
        <p:spPr>
          <a:xfrm>
            <a:off x="8321040" y="42976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1" name="Public Excursionniste icô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4429354"/>
            <a:ext cx="285293" cy="285293"/>
          </a:xfrm>
          <a:prstGeom prst="rect">
            <a:avLst/>
          </a:prstGeom>
        </p:spPr>
      </p:pic>
      <p:sp>
        <p:nvSpPr>
          <p:cNvPr id="32" name="Public titre Excursionniste"/>
          <p:cNvSpPr txBox="1"/>
          <p:nvPr/>
        </p:nvSpPr>
        <p:spPr>
          <a:xfrm>
            <a:off x="9006840" y="4270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Excursionniste</a:t>
            </a:r>
            <a:endParaRPr lang="en-US" sz="17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sans nuitée</a:t>
            </a:r>
            <a:endParaRPr lang="en-US" sz="1700" dirty="0"/>
          </a:p>
        </p:txBody>
      </p:sp>
      <p:sp>
        <p:nvSpPr>
          <p:cNvPr id="33" name="Public texte Excursionniste"/>
          <p:cNvSpPr txBox="1"/>
          <p:nvPr/>
        </p:nvSpPr>
        <p:spPr>
          <a:xfrm>
            <a:off x="8321040" y="49834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Visite à la journée : privilégie des trajets directs vers son lieu d'activité ou de loisir.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Urbain : autonomie et diversification des pratiques</a:t>
            </a:r>
            <a:endParaRPr lang="en-US" sz="3200" dirty="0"/>
          </a:p>
        </p:txBody>
      </p:sp>
      <p:graphicFrame>
        <p:nvGraphicFramePr>
          <p:cNvPr id="10" name="Tableau Urbai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Notion du texte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Lien avec notre enquête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Mobilité touristique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Saint-Roch, point d'arrivée et de départ des touristes et excursionnistes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Autonomie du voyageur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Une signalétique peu claire peut limiter l'autonomie des visiteurs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Évolution des transports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Train, tram, bus et vélo : plusieurs modes possibles depuis la gare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Diversification des pratiques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Répondre aux visiteurs occasionnels comme aux usagers réguliers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Accessibilité de la mobilité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Visibilité des accès, des bornes et des dispositifs PMR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Innovation des services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L'appli M'Ticket aide… à condition que les visiteurs la connaissent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Carte question Urbain"/>
          <p:cNvSpPr/>
          <p:nvPr/>
        </p:nvSpPr>
        <p:spPr>
          <a:xfrm>
            <a:off x="7955280" y="1371600"/>
            <a:ext cx="3703320" cy="3977640"/>
          </a:xfrm>
          <a:prstGeom prst="roundRect">
            <a:avLst>
              <a:gd name="adj" fmla="val 296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Question Urbain cercle"/>
          <p:cNvSpPr/>
          <p:nvPr/>
        </p:nvSpPr>
        <p:spPr>
          <a:xfrm>
            <a:off x="8229600" y="16459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Question Urbain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4" y="1777594"/>
            <a:ext cx="285293" cy="285293"/>
          </a:xfrm>
          <a:prstGeom prst="rect">
            <a:avLst/>
          </a:prstGeom>
        </p:spPr>
      </p:pic>
      <p:sp>
        <p:nvSpPr>
          <p:cNvPr id="7" name="Label question Urbain"/>
          <p:cNvSpPr txBox="1"/>
          <p:nvPr/>
        </p:nvSpPr>
        <p:spPr>
          <a:xfrm>
            <a:off x="891540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Questionnement retenu</a:t>
            </a:r>
            <a:endParaRPr lang="en-US" sz="1600" dirty="0"/>
          </a:p>
        </p:txBody>
      </p:sp>
      <p:sp>
        <p:nvSpPr>
          <p:cNvPr id="8" name="Question Urbain"/>
          <p:cNvSpPr txBox="1"/>
          <p:nvPr/>
        </p:nvSpPr>
        <p:spPr>
          <a:xfrm>
            <a:off x="8229600" y="237744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La qualité de l'information et des services intermodaux est-elle un facteur déterminant de l'autonomie des touristes, au point que leur insuffisance dégrade l'expérience de mobilité à Montpellier ?</a:t>
            </a:r>
            <a:endParaRPr lang="en-US" sz="1800" dirty="0"/>
          </a:p>
        </p:txBody>
      </p:sp>
      <p:sp>
        <p:nvSpPr>
          <p:cNvPr id="9" name="Vigilance Urbain"/>
          <p:cNvSpPr txBox="1"/>
          <p:nvPr/>
        </p:nvSpPr>
        <p:spPr>
          <a:xfrm>
            <a:off x="7955280" y="55321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Point de vigilance : le texte s'appuie sur des données des années 1990.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Premiers terrains : ce qui nous a frappés</a:t>
            </a:r>
            <a:endParaRPr lang="en-US" sz="3200" dirty="0"/>
          </a:p>
        </p:txBody>
      </p:sp>
      <p:sp>
        <p:nvSpPr>
          <p:cNvPr id="3" name="Carte terrain L'offre"/>
          <p:cNvSpPr/>
          <p:nvPr/>
        </p:nvSpPr>
        <p:spPr>
          <a:xfrm>
            <a:off x="54864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rrain L'offre ce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Terrain L'offre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810512"/>
            <a:ext cx="356616" cy="356616"/>
          </a:xfrm>
          <a:prstGeom prst="rect">
            <a:avLst/>
          </a:prstGeom>
        </p:spPr>
      </p:pic>
      <p:sp>
        <p:nvSpPr>
          <p:cNvPr id="6" name="Terrain titre L&amp;apos;offre"/>
          <p:cNvSpPr txBox="1"/>
          <p:nvPr/>
        </p:nvSpPr>
        <p:spPr>
          <a:xfrm>
            <a:off x="164592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L'offre</a:t>
            </a:r>
            <a:endParaRPr lang="en-US" sz="2200" dirty="0"/>
          </a:p>
        </p:txBody>
      </p:sp>
      <p:sp>
        <p:nvSpPr>
          <p:cNvPr id="7" name="Terrain liste L'offre"/>
          <p:cNvSpPr txBox="1"/>
          <p:nvPr/>
        </p:nvSpPr>
        <p:spPr>
          <a:xfrm>
            <a:off x="822960" y="26060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Forte intermodalité : train, tram, bus, vélo, taxi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TC saturés en heure de pointe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Disponibilité des Vélomagg' variable selon l'horaire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Prix : gratuité résidents, titre payant pour les visiteurs</a:t>
            </a:r>
            <a:endParaRPr lang="en-US" sz="1700" dirty="0"/>
          </a:p>
        </p:txBody>
      </p:sp>
      <p:sp>
        <p:nvSpPr>
          <p:cNvPr id="8" name="Carte terrain L'accessibilité"/>
          <p:cNvSpPr/>
          <p:nvPr/>
        </p:nvSpPr>
        <p:spPr>
          <a:xfrm>
            <a:off x="434340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rrain L'accessibilité cercle"/>
          <p:cNvSpPr/>
          <p:nvPr/>
        </p:nvSpPr>
        <p:spPr>
          <a:xfrm>
            <a:off x="461772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Terrain L'accessibilité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810512"/>
            <a:ext cx="356616" cy="356616"/>
          </a:xfrm>
          <a:prstGeom prst="rect">
            <a:avLst/>
          </a:prstGeom>
        </p:spPr>
      </p:pic>
      <p:sp>
        <p:nvSpPr>
          <p:cNvPr id="11" name="Terrain titre L&amp;apos;accessibilité"/>
          <p:cNvSpPr txBox="1"/>
          <p:nvPr/>
        </p:nvSpPr>
        <p:spPr>
          <a:xfrm>
            <a:off x="544068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L'accessibilité</a:t>
            </a:r>
            <a:endParaRPr lang="en-US" sz="2200" dirty="0"/>
          </a:p>
        </p:txBody>
      </p:sp>
      <p:sp>
        <p:nvSpPr>
          <p:cNvPr id="12" name="Terrain liste L'accessibilité"/>
          <p:cNvSpPr txBox="1"/>
          <p:nvPr/>
        </p:nvSpPr>
        <p:spPr>
          <a:xfrm>
            <a:off x="4617720" y="26060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Centre-ville rejoint facilement à pied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Accès voiture complexe : congestion du centre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Signalétique vers le tram plus ou moins visible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Bornes et dispositifs PMR à repérer</a:t>
            </a:r>
            <a:endParaRPr lang="en-US" sz="1700" dirty="0"/>
          </a:p>
        </p:txBody>
      </p:sp>
      <p:sp>
        <p:nvSpPr>
          <p:cNvPr id="13" name="Carte terrain Le vécu"/>
          <p:cNvSpPr/>
          <p:nvPr/>
        </p:nvSpPr>
        <p:spPr>
          <a:xfrm>
            <a:off x="813816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rrain Le vécu cercle"/>
          <p:cNvSpPr/>
          <p:nvPr/>
        </p:nvSpPr>
        <p:spPr>
          <a:xfrm>
            <a:off x="841248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Terrain Le vécu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810512"/>
            <a:ext cx="356616" cy="356616"/>
          </a:xfrm>
          <a:prstGeom prst="rect">
            <a:avLst/>
          </a:prstGeom>
        </p:spPr>
      </p:pic>
      <p:sp>
        <p:nvSpPr>
          <p:cNvPr id="16" name="Terrain titre Le vécu"/>
          <p:cNvSpPr txBox="1"/>
          <p:nvPr/>
        </p:nvSpPr>
        <p:spPr>
          <a:xfrm>
            <a:off x="923544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 vécu</a:t>
            </a:r>
            <a:endParaRPr lang="en-US" sz="2200" dirty="0"/>
          </a:p>
        </p:txBody>
      </p:sp>
      <p:sp>
        <p:nvSpPr>
          <p:cNvPr id="17" name="Terrain liste Le vécu"/>
          <p:cNvSpPr txBox="1"/>
          <p:nvPr/>
        </p:nvSpPr>
        <p:spPr>
          <a:xfrm>
            <a:off x="8412480" y="26060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Stress et hésitation à la sortie du train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Correspondances et temps d'attente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Profils variés : touristes, excursionnistes, pendulaires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Outils numériques (M'Ticket) peu connus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problématique</a:t>
            </a:r>
            <a:endParaRPr lang="en-US" sz="3200" dirty="0"/>
          </a:p>
        </p:txBody>
      </p:sp>
      <p:pic>
        <p:nvPicPr>
          <p:cNvPr id="3" name="Photo façade carrée" descr="/tmp/claude-0/-home-user-online-cv/ee39b21c-a5a8-5008-a843-7fe60c1fd8b5/scratchpad/deck/img/facade_sq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0"/>
            <a:ext cx="3657600" cy="3657600"/>
          </a:xfrm>
          <a:prstGeom prst="rect">
            <a:avLst/>
          </a:prstGeom>
        </p:spPr>
      </p:pic>
      <p:sp>
        <p:nvSpPr>
          <p:cNvPr id="4" name="Problématique groupe"/>
          <p:cNvSpPr txBox="1"/>
          <p:nvPr/>
        </p:nvSpPr>
        <p:spPr>
          <a:xfrm>
            <a:off x="548640" y="1463040"/>
            <a:ext cx="6949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quelle mesure la lisibilité de l'information et des services intermodaux de la gare Saint-Roch conditionne-t-elle l'autonomie des touristes et excursionnistes, et donc la qualité de leur expérience de mobilité à Montpellier ?</a:t>
            </a:r>
            <a:endParaRPr lang="en-US" sz="2800" dirty="0"/>
          </a:p>
        </p:txBody>
      </p:sp>
      <p:sp>
        <p:nvSpPr>
          <p:cNvPr id="5" name="Mot problématique Information"/>
          <p:cNvSpPr/>
          <p:nvPr/>
        </p:nvSpPr>
        <p:spPr>
          <a:xfrm>
            <a:off x="548640" y="5440680"/>
            <a:ext cx="201168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Mot problématique texte Information"/>
          <p:cNvSpPr txBox="1"/>
          <p:nvPr/>
        </p:nvSpPr>
        <p:spPr>
          <a:xfrm>
            <a:off x="54864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Information</a:t>
            </a:r>
            <a:endParaRPr lang="en-US" sz="1600" dirty="0"/>
          </a:p>
        </p:txBody>
      </p:sp>
      <p:sp>
        <p:nvSpPr>
          <p:cNvPr id="7" name="Mot problématique Autonomie"/>
          <p:cNvSpPr/>
          <p:nvPr/>
        </p:nvSpPr>
        <p:spPr>
          <a:xfrm>
            <a:off x="2834640" y="5440680"/>
            <a:ext cx="201168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ot problématique texte Autonomie"/>
          <p:cNvSpPr txBox="1"/>
          <p:nvPr/>
        </p:nvSpPr>
        <p:spPr>
          <a:xfrm>
            <a:off x="283464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Autonomie</a:t>
            </a:r>
            <a:endParaRPr lang="en-US" sz="1600" dirty="0"/>
          </a:p>
        </p:txBody>
      </p:sp>
      <p:sp>
        <p:nvSpPr>
          <p:cNvPr id="9" name="Mot problématique Expérience"/>
          <p:cNvSpPr/>
          <p:nvPr/>
        </p:nvSpPr>
        <p:spPr>
          <a:xfrm>
            <a:off x="5120640" y="5440680"/>
            <a:ext cx="201168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Mot problématique texte Expérience"/>
          <p:cNvSpPr txBox="1"/>
          <p:nvPr/>
        </p:nvSpPr>
        <p:spPr>
          <a:xfrm>
            <a:off x="5120640" y="5440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Expérience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d'analyse : l'arborescence</a:t>
            </a:r>
            <a:endParaRPr lang="en-US" sz="3200" dirty="0"/>
          </a:p>
        </p:txBody>
      </p:sp>
      <p:sp>
        <p:nvSpPr>
          <p:cNvPr id="3" name="Hypothèse principale"/>
          <p:cNvSpPr/>
          <p:nvPr/>
        </p:nvSpPr>
        <p:spPr>
          <a:xfrm>
            <a:off x="1737360" y="1234440"/>
            <a:ext cx="8714232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e hypothèse principale"/>
          <p:cNvSpPr txBox="1"/>
          <p:nvPr/>
        </p:nvSpPr>
        <p:spPr>
          <a:xfrm>
            <a:off x="1965960" y="1234440"/>
            <a:ext cx="8257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Hypothèse principale 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l'offre de mobilité de Saint-Roch est riche mais pensée pour les usagers quotidiens ; son manque de lisibilité pour les visiteurs limite leur autonomie et dégrade leur expérience.</a:t>
            </a:r>
            <a:endParaRPr lang="en-US" sz="1400" dirty="0"/>
          </a:p>
        </p:txBody>
      </p:sp>
      <p:sp>
        <p:nvSpPr>
          <p:cNvPr id="5" name="Lien tronc"/>
          <p:cNvSpPr/>
          <p:nvPr/>
        </p:nvSpPr>
        <p:spPr>
          <a:xfrm>
            <a:off x="6095848" y="214884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6" name="Lien horizontal"/>
          <p:cNvSpPr/>
          <p:nvPr/>
        </p:nvSpPr>
        <p:spPr>
          <a:xfrm>
            <a:off x="2331720" y="2331720"/>
            <a:ext cx="779068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7" name="Lien branche 1"/>
          <p:cNvSpPr/>
          <p:nvPr/>
        </p:nvSpPr>
        <p:spPr>
          <a:xfrm>
            <a:off x="2331720" y="233172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8" name="Dimension 1"/>
          <p:cNvSpPr/>
          <p:nvPr/>
        </p:nvSpPr>
        <p:spPr>
          <a:xfrm>
            <a:off x="548640" y="2514600"/>
            <a:ext cx="356616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ône dimensi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606040"/>
            <a:ext cx="320040" cy="320040"/>
          </a:xfrm>
          <a:prstGeom prst="rect">
            <a:avLst/>
          </a:prstGeom>
        </p:spPr>
      </p:pic>
      <p:sp>
        <p:nvSpPr>
          <p:cNvPr id="10" name="Titre dimension 1"/>
          <p:cNvSpPr txBox="1"/>
          <p:nvPr/>
        </p:nvSpPr>
        <p:spPr>
          <a:xfrm>
            <a:off x="109728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Dimension 1 · L'offre</a:t>
            </a:r>
            <a:endParaRPr lang="en-US" sz="1500" dirty="0"/>
          </a:p>
        </p:txBody>
      </p:sp>
      <p:sp>
        <p:nvSpPr>
          <p:cNvPr id="11" name="Sous-hypothèse 1"/>
          <p:cNvSpPr txBox="1"/>
          <p:nvPr/>
        </p:nvSpPr>
        <p:spPr>
          <a:xfrm>
            <a:off x="548640" y="31272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Sous-hypothèse 1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L'offre intermodale est dense mais adaptée aux flux quotidiens plus qu'aux flux touristiques.</a:t>
            </a:r>
            <a:endParaRPr lang="en-US" sz="1400" dirty="0"/>
          </a:p>
        </p:txBody>
      </p:sp>
      <p:sp>
        <p:nvSpPr>
          <p:cNvPr id="12" name="Label investigations 1"/>
          <p:cNvSpPr txBox="1"/>
          <p:nvPr/>
        </p:nvSpPr>
        <p:spPr>
          <a:xfrm>
            <a:off x="54864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Investigations de terrain</a:t>
            </a:r>
            <a:endParaRPr lang="en-US" sz="1200" dirty="0"/>
          </a:p>
        </p:txBody>
      </p:sp>
      <p:sp>
        <p:nvSpPr>
          <p:cNvPr id="13" name="Composante 1.1"/>
          <p:cNvSpPr/>
          <p:nvPr/>
        </p:nvSpPr>
        <p:spPr>
          <a:xfrm>
            <a:off x="548640" y="4498848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mposante texte 1.1"/>
          <p:cNvSpPr txBox="1"/>
          <p:nvPr/>
        </p:nvSpPr>
        <p:spPr>
          <a:xfrm>
            <a:off x="685800" y="44988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C1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Diversité des modes et correspondances</a:t>
            </a:r>
            <a:endParaRPr lang="en-US" sz="1300" dirty="0"/>
          </a:p>
        </p:txBody>
      </p:sp>
      <p:sp>
        <p:nvSpPr>
          <p:cNvPr id="15" name="Composante 1.2"/>
          <p:cNvSpPr/>
          <p:nvPr/>
        </p:nvSpPr>
        <p:spPr>
          <a:xfrm>
            <a:off x="548640" y="5065776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omposante texte 1.2"/>
          <p:cNvSpPr txBox="1"/>
          <p:nvPr/>
        </p:nvSpPr>
        <p:spPr>
          <a:xfrm>
            <a:off x="685800" y="50657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C2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Saturation aux heures de pointe</a:t>
            </a:r>
            <a:endParaRPr lang="en-US" sz="1300" dirty="0"/>
          </a:p>
        </p:txBody>
      </p:sp>
      <p:sp>
        <p:nvSpPr>
          <p:cNvPr id="17" name="Composante 1.3"/>
          <p:cNvSpPr/>
          <p:nvPr/>
        </p:nvSpPr>
        <p:spPr>
          <a:xfrm>
            <a:off x="548640" y="5632704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Composante texte 1.3"/>
          <p:cNvSpPr txBox="1"/>
          <p:nvPr/>
        </p:nvSpPr>
        <p:spPr>
          <a:xfrm>
            <a:off x="685800" y="56327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C3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Tarification et titres pour visiteurs</a:t>
            </a:r>
            <a:endParaRPr lang="en-US" sz="1300" dirty="0"/>
          </a:p>
        </p:txBody>
      </p:sp>
      <p:sp>
        <p:nvSpPr>
          <p:cNvPr id="19" name="Lien branche 2"/>
          <p:cNvSpPr/>
          <p:nvPr/>
        </p:nvSpPr>
        <p:spPr>
          <a:xfrm>
            <a:off x="6227064" y="233172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0" name="Dimension 2"/>
          <p:cNvSpPr/>
          <p:nvPr/>
        </p:nvSpPr>
        <p:spPr>
          <a:xfrm>
            <a:off x="4443984" y="2514600"/>
            <a:ext cx="356616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ône dimensi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2606040"/>
            <a:ext cx="320040" cy="320040"/>
          </a:xfrm>
          <a:prstGeom prst="rect">
            <a:avLst/>
          </a:prstGeom>
        </p:spPr>
      </p:pic>
      <p:sp>
        <p:nvSpPr>
          <p:cNvPr id="22" name="Titre dimension 2"/>
          <p:cNvSpPr txBox="1"/>
          <p:nvPr/>
        </p:nvSpPr>
        <p:spPr>
          <a:xfrm>
            <a:off x="4992624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Dimension 2 · L'accessibilité</a:t>
            </a:r>
            <a:endParaRPr lang="en-US" sz="1500" dirty="0"/>
          </a:p>
        </p:txBody>
      </p:sp>
      <p:sp>
        <p:nvSpPr>
          <p:cNvPr id="23" name="Sous-hypothèse 2"/>
          <p:cNvSpPr txBox="1"/>
          <p:nvPr/>
        </p:nvSpPr>
        <p:spPr>
          <a:xfrm>
            <a:off x="4443984" y="31272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Sous-hypothèse 2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signalétique et l'information ne réduisent pas assez l'incertitude spatiale du visiteur.</a:t>
            </a:r>
            <a:endParaRPr lang="en-US" sz="1400" dirty="0"/>
          </a:p>
        </p:txBody>
      </p:sp>
      <p:sp>
        <p:nvSpPr>
          <p:cNvPr id="24" name="Label investigations 2"/>
          <p:cNvSpPr txBox="1"/>
          <p:nvPr/>
        </p:nvSpPr>
        <p:spPr>
          <a:xfrm>
            <a:off x="4443984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Investigations de terrain</a:t>
            </a:r>
            <a:endParaRPr lang="en-US" sz="1200" dirty="0"/>
          </a:p>
        </p:txBody>
      </p:sp>
      <p:sp>
        <p:nvSpPr>
          <p:cNvPr id="25" name="Composante 2.1"/>
          <p:cNvSpPr/>
          <p:nvPr/>
        </p:nvSpPr>
        <p:spPr>
          <a:xfrm>
            <a:off x="4443984" y="4498848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omposante texte 2.1"/>
          <p:cNvSpPr txBox="1"/>
          <p:nvPr/>
        </p:nvSpPr>
        <p:spPr>
          <a:xfrm>
            <a:off x="4581144" y="44988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C1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Signalétique gare → tram / bus</a:t>
            </a:r>
            <a:endParaRPr lang="en-US" sz="1300" dirty="0"/>
          </a:p>
        </p:txBody>
      </p:sp>
      <p:sp>
        <p:nvSpPr>
          <p:cNvPr id="27" name="Composante 2.2"/>
          <p:cNvSpPr/>
          <p:nvPr/>
        </p:nvSpPr>
        <p:spPr>
          <a:xfrm>
            <a:off x="4443984" y="5065776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omposante texte 2.2"/>
          <p:cNvSpPr txBox="1"/>
          <p:nvPr/>
        </p:nvSpPr>
        <p:spPr>
          <a:xfrm>
            <a:off x="4581144" y="50657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C2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Information voyageurs (bornes, plans, langues)</a:t>
            </a:r>
            <a:endParaRPr lang="en-US" sz="1300" dirty="0"/>
          </a:p>
        </p:txBody>
      </p:sp>
      <p:sp>
        <p:nvSpPr>
          <p:cNvPr id="29" name="Composante 2.3"/>
          <p:cNvSpPr/>
          <p:nvPr/>
        </p:nvSpPr>
        <p:spPr>
          <a:xfrm>
            <a:off x="4443984" y="5632704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omposante texte 2.3"/>
          <p:cNvSpPr txBox="1"/>
          <p:nvPr/>
        </p:nvSpPr>
        <p:spPr>
          <a:xfrm>
            <a:off x="4581144" y="56327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C3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Accès PMR, bagages, cheminements</a:t>
            </a:r>
            <a:endParaRPr lang="en-US" sz="1300" dirty="0"/>
          </a:p>
        </p:txBody>
      </p:sp>
      <p:sp>
        <p:nvSpPr>
          <p:cNvPr id="31" name="Lien branche 3"/>
          <p:cNvSpPr/>
          <p:nvPr/>
        </p:nvSpPr>
        <p:spPr>
          <a:xfrm>
            <a:off x="10122408" y="233172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32" name="Dimension 3"/>
          <p:cNvSpPr/>
          <p:nvPr/>
        </p:nvSpPr>
        <p:spPr>
          <a:xfrm>
            <a:off x="8339328" y="2514600"/>
            <a:ext cx="356616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cône dimensi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606040"/>
            <a:ext cx="320040" cy="320040"/>
          </a:xfrm>
          <a:prstGeom prst="rect">
            <a:avLst/>
          </a:prstGeom>
        </p:spPr>
      </p:pic>
      <p:sp>
        <p:nvSpPr>
          <p:cNvPr id="34" name="Titre dimension 3"/>
          <p:cNvSpPr txBox="1"/>
          <p:nvPr/>
        </p:nvSpPr>
        <p:spPr>
          <a:xfrm>
            <a:off x="8887968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Dimension 3 · Le vécu</a:t>
            </a:r>
            <a:endParaRPr lang="en-US" sz="1500" dirty="0"/>
          </a:p>
        </p:txBody>
      </p:sp>
      <p:sp>
        <p:nvSpPr>
          <p:cNvPr id="35" name="Sous-hypothèse 3"/>
          <p:cNvSpPr txBox="1"/>
          <p:nvPr/>
        </p:nvSpPr>
        <p:spPr>
          <a:xfrm>
            <a:off x="8339328" y="31272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Sous-hypothèse 3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L'expérience de mobilité varie selon le profil et influence la perception du séjour.</a:t>
            </a:r>
            <a:endParaRPr lang="en-US" sz="1400" dirty="0"/>
          </a:p>
        </p:txBody>
      </p:sp>
      <p:sp>
        <p:nvSpPr>
          <p:cNvPr id="36" name="Label investigations 3"/>
          <p:cNvSpPr txBox="1"/>
          <p:nvPr/>
        </p:nvSpPr>
        <p:spPr>
          <a:xfrm>
            <a:off x="8339328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Investigations de terrain</a:t>
            </a:r>
            <a:endParaRPr lang="en-US" sz="1200" dirty="0"/>
          </a:p>
        </p:txBody>
      </p:sp>
      <p:sp>
        <p:nvSpPr>
          <p:cNvPr id="37" name="Composante 3.1"/>
          <p:cNvSpPr/>
          <p:nvPr/>
        </p:nvSpPr>
        <p:spPr>
          <a:xfrm>
            <a:off x="8339328" y="4498848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Composante texte 3.1"/>
          <p:cNvSpPr txBox="1"/>
          <p:nvPr/>
        </p:nvSpPr>
        <p:spPr>
          <a:xfrm>
            <a:off x="8476488" y="44988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C1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Profils : touriste / excursionniste / âge</a:t>
            </a:r>
            <a:endParaRPr lang="en-US" sz="1300" dirty="0"/>
          </a:p>
        </p:txBody>
      </p:sp>
      <p:sp>
        <p:nvSpPr>
          <p:cNvPr id="39" name="Composante 3.2"/>
          <p:cNvSpPr/>
          <p:nvPr/>
        </p:nvSpPr>
        <p:spPr>
          <a:xfrm>
            <a:off x="8339328" y="5065776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Composante texte 3.2"/>
          <p:cNvSpPr txBox="1"/>
          <p:nvPr/>
        </p:nvSpPr>
        <p:spPr>
          <a:xfrm>
            <a:off x="8476488" y="50657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C2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Stress, attente, temps de parcours</a:t>
            </a:r>
            <a:endParaRPr lang="en-US" sz="1300" dirty="0"/>
          </a:p>
        </p:txBody>
      </p:sp>
      <p:sp>
        <p:nvSpPr>
          <p:cNvPr id="41" name="Composante 3.3"/>
          <p:cNvSpPr/>
          <p:nvPr/>
        </p:nvSpPr>
        <p:spPr>
          <a:xfrm>
            <a:off x="8339328" y="5632704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Composante texte 3.3"/>
          <p:cNvSpPr txBox="1"/>
          <p:nvPr/>
        </p:nvSpPr>
        <p:spPr>
          <a:xfrm>
            <a:off x="8476488" y="56327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C3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Connaissance des outils (M'Ticket)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Dispositif d'enquête envisagé</a:t>
            </a:r>
            <a:endParaRPr lang="en-US" sz="3200" dirty="0"/>
          </a:p>
        </p:txBody>
      </p:sp>
      <p:sp>
        <p:nvSpPr>
          <p:cNvPr id="3" name="Carte méthode Observation"/>
          <p:cNvSpPr/>
          <p:nvPr/>
        </p:nvSpPr>
        <p:spPr>
          <a:xfrm>
            <a:off x="548640" y="13716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E4A5C">
                <a:alpha val="18000"/>
              </a:srgbClr>
            </a:outerShdw>
          </a:effectLst>
        </p:spPr>
      </p:sp>
      <p:sp>
        <p:nvSpPr>
          <p:cNvPr id="4" name="Méthode Observation cercle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Méthode Observation 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832458"/>
            <a:ext cx="404165" cy="404165"/>
          </a:xfrm>
          <a:prstGeom prst="rect">
            <a:avLst/>
          </a:prstGeom>
        </p:spPr>
      </p:pic>
      <p:sp>
        <p:nvSpPr>
          <p:cNvPr id="6" name="Méthode titre Observation"/>
          <p:cNvSpPr txBox="1"/>
          <p:nvPr/>
        </p:nvSpPr>
        <p:spPr>
          <a:xfrm>
            <a:off x="8229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Observation</a:t>
            </a:r>
            <a:endParaRPr lang="en-US" sz="1800" dirty="0"/>
          </a:p>
        </p:txBody>
      </p:sp>
      <p:sp>
        <p:nvSpPr>
          <p:cNvPr id="7" name="Méthode texte Observation"/>
          <p:cNvSpPr txBox="1"/>
          <p:nvPr/>
        </p:nvSpPr>
        <p:spPr>
          <a:xfrm>
            <a:off x="822960" y="3108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Parcours des voyageurs de la sortie du train jusqu'au tram : hésitations, signalétique, temps.</a:t>
            </a:r>
            <a:endParaRPr lang="en-US" sz="1600" dirty="0"/>
          </a:p>
        </p:txBody>
      </p:sp>
      <p:sp>
        <p:nvSpPr>
          <p:cNvPr id="8" name="Méthode dimensions Observation"/>
          <p:cNvSpPr txBox="1"/>
          <p:nvPr/>
        </p:nvSpPr>
        <p:spPr>
          <a:xfrm>
            <a:off x="82296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Dimensions 1 · 2</a:t>
            </a:r>
            <a:endParaRPr lang="en-US" sz="1200" dirty="0"/>
          </a:p>
        </p:txBody>
      </p:sp>
      <p:sp>
        <p:nvSpPr>
          <p:cNvPr id="9" name="Carte méthode Questionnaire"/>
          <p:cNvSpPr/>
          <p:nvPr/>
        </p:nvSpPr>
        <p:spPr>
          <a:xfrm>
            <a:off x="3383280" y="13716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E4A5C">
                <a:alpha val="18000"/>
              </a:srgbClr>
            </a:outerShdw>
          </a:effectLst>
        </p:spPr>
      </p:sp>
      <p:sp>
        <p:nvSpPr>
          <p:cNvPr id="10" name="Méthode Questionnaire cercle"/>
          <p:cNvSpPr/>
          <p:nvPr/>
        </p:nvSpPr>
        <p:spPr>
          <a:xfrm>
            <a:off x="3657600" y="164592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Méthode Questionnaire 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138" y="1832458"/>
            <a:ext cx="404165" cy="404165"/>
          </a:xfrm>
          <a:prstGeom prst="rect">
            <a:avLst/>
          </a:prstGeom>
        </p:spPr>
      </p:pic>
      <p:sp>
        <p:nvSpPr>
          <p:cNvPr id="12" name="Méthode titre Questionnaire"/>
          <p:cNvSpPr txBox="1"/>
          <p:nvPr/>
        </p:nvSpPr>
        <p:spPr>
          <a:xfrm>
            <a:off x="36576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Questionnaire</a:t>
            </a:r>
            <a:endParaRPr lang="en-US" sz="1800" dirty="0"/>
          </a:p>
        </p:txBody>
      </p:sp>
      <p:sp>
        <p:nvSpPr>
          <p:cNvPr id="13" name="Méthode texte Questionnaire"/>
          <p:cNvSpPr txBox="1"/>
          <p:nvPr/>
        </p:nvSpPr>
        <p:spPr>
          <a:xfrm>
            <a:off x="3657600" y="3108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Profil, motif, modes utilisés, difficultés, connaissance de M'Ticket et des tarifs.</a:t>
            </a:r>
            <a:endParaRPr lang="en-US" sz="1600" dirty="0"/>
          </a:p>
        </p:txBody>
      </p:sp>
      <p:sp>
        <p:nvSpPr>
          <p:cNvPr id="14" name="Méthode dimensions Questionnaire"/>
          <p:cNvSpPr txBox="1"/>
          <p:nvPr/>
        </p:nvSpPr>
        <p:spPr>
          <a:xfrm>
            <a:off x="365760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Dimensions 1 · 3</a:t>
            </a:r>
            <a:endParaRPr lang="en-US" sz="1200" dirty="0"/>
          </a:p>
        </p:txBody>
      </p:sp>
      <p:sp>
        <p:nvSpPr>
          <p:cNvPr id="15" name="Carte méthode Entretiens"/>
          <p:cNvSpPr/>
          <p:nvPr/>
        </p:nvSpPr>
        <p:spPr>
          <a:xfrm>
            <a:off x="6217920" y="13716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E4A5C">
                <a:alpha val="18000"/>
              </a:srgbClr>
            </a:outerShdw>
          </a:effectLst>
        </p:spPr>
      </p:sp>
      <p:sp>
        <p:nvSpPr>
          <p:cNvPr id="16" name="Méthode Entretiens cercle"/>
          <p:cNvSpPr/>
          <p:nvPr/>
        </p:nvSpPr>
        <p:spPr>
          <a:xfrm>
            <a:off x="6492240" y="16459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Méthode Entretiens 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78" y="1832458"/>
            <a:ext cx="404165" cy="404165"/>
          </a:xfrm>
          <a:prstGeom prst="rect">
            <a:avLst/>
          </a:prstGeom>
        </p:spPr>
      </p:pic>
      <p:sp>
        <p:nvSpPr>
          <p:cNvPr id="18" name="Méthode titre Entretiens"/>
          <p:cNvSpPr txBox="1"/>
          <p:nvPr/>
        </p:nvSpPr>
        <p:spPr>
          <a:xfrm>
            <a:off x="64922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Entretiens</a:t>
            </a:r>
            <a:endParaRPr lang="en-US" sz="1800" dirty="0"/>
          </a:p>
        </p:txBody>
      </p:sp>
      <p:sp>
        <p:nvSpPr>
          <p:cNvPr id="19" name="Méthode texte Entretiens"/>
          <p:cNvSpPr txBox="1"/>
          <p:nvPr/>
        </p:nvSpPr>
        <p:spPr>
          <a:xfrm>
            <a:off x="6492240" y="3108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Acteurs : TAM, SNCF Gares &amp; Connexions, Office de tourisme, commerçants de la gare.</a:t>
            </a:r>
            <a:endParaRPr lang="en-US" sz="1600" dirty="0"/>
          </a:p>
        </p:txBody>
      </p:sp>
      <p:sp>
        <p:nvSpPr>
          <p:cNvPr id="20" name="Méthode dimensions Entretiens"/>
          <p:cNvSpPr txBox="1"/>
          <p:nvPr/>
        </p:nvSpPr>
        <p:spPr>
          <a:xfrm>
            <a:off x="649224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Dimensions 1 · 2</a:t>
            </a:r>
            <a:endParaRPr lang="en-US" sz="1200" dirty="0"/>
          </a:p>
        </p:txBody>
      </p:sp>
      <p:sp>
        <p:nvSpPr>
          <p:cNvPr id="21" name="Carte méthode Parcours commentés"/>
          <p:cNvSpPr/>
          <p:nvPr/>
        </p:nvSpPr>
        <p:spPr>
          <a:xfrm>
            <a:off x="9052560" y="13716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E4A5C">
                <a:alpha val="18000"/>
              </a:srgbClr>
            </a:outerShdw>
          </a:effectLst>
        </p:spPr>
      </p:sp>
      <p:sp>
        <p:nvSpPr>
          <p:cNvPr id="22" name="Méthode Parcours commentés cercle"/>
          <p:cNvSpPr/>
          <p:nvPr/>
        </p:nvSpPr>
        <p:spPr>
          <a:xfrm>
            <a:off x="9326880" y="1645920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Méthode Parcours commentés 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418" y="1832458"/>
            <a:ext cx="404165" cy="404165"/>
          </a:xfrm>
          <a:prstGeom prst="rect">
            <a:avLst/>
          </a:prstGeom>
        </p:spPr>
      </p:pic>
      <p:sp>
        <p:nvSpPr>
          <p:cNvPr id="24" name="Méthode titre Parcours commentés"/>
          <p:cNvSpPr txBox="1"/>
          <p:nvPr/>
        </p:nvSpPr>
        <p:spPr>
          <a:xfrm>
            <a:off x="93268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Parcours commentés</a:t>
            </a:r>
            <a:endParaRPr lang="en-US" sz="1800" dirty="0"/>
          </a:p>
        </p:txBody>
      </p:sp>
      <p:sp>
        <p:nvSpPr>
          <p:cNvPr id="25" name="Méthode texte Parcours commentés"/>
          <p:cNvSpPr txBox="1"/>
          <p:nvPr/>
        </p:nvSpPr>
        <p:spPr>
          <a:xfrm>
            <a:off x="9326880" y="310896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Accompagner un visiteur qui verbalise son trajet : repères, stress, incompréhensions.</a:t>
            </a:r>
            <a:endParaRPr lang="en-US" sz="1600" dirty="0"/>
          </a:p>
        </p:txBody>
      </p:sp>
      <p:sp>
        <p:nvSpPr>
          <p:cNvPr id="26" name="Méthode dimensions Parcours commentés"/>
          <p:cNvSpPr txBox="1"/>
          <p:nvPr/>
        </p:nvSpPr>
        <p:spPr>
          <a:xfrm>
            <a:off x="9326880" y="4937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Dimensions 2 · 3</a:t>
            </a:r>
            <a:endParaRPr lang="en-US" sz="1200" dirty="0"/>
          </a:p>
        </p:txBody>
      </p:sp>
      <p:sp>
        <p:nvSpPr>
          <p:cNvPr id="27" name="Bandeau calendrier"/>
          <p:cNvSpPr/>
          <p:nvPr/>
        </p:nvSpPr>
        <p:spPr>
          <a:xfrm>
            <a:off x="548640" y="5669280"/>
            <a:ext cx="1110996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e calendrier"/>
          <p:cNvSpPr txBox="1"/>
          <p:nvPr/>
        </p:nvSpPr>
        <p:spPr>
          <a:xfrm>
            <a:off x="77724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Quand 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semaine et week-end, heures creuses et heures de pointe, périodes de vacances : pour capter touristes et excursionnistes.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ile sombr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82000"/>
            </a:schemeClr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200" dirty="0"/>
          </a:p>
        </p:txBody>
      </p:sp>
      <p:sp>
        <p:nvSpPr>
          <p:cNvPr id="4" name="Étape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Numéro étape 1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itre étape 1"/>
          <p:cNvSpPr txBox="1"/>
          <p:nvPr/>
        </p:nvSpPr>
        <p:spPr>
          <a:xfrm>
            <a:off x="146304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Enquêter</a:t>
            </a:r>
            <a:endParaRPr lang="en-US" sz="2200" dirty="0"/>
          </a:p>
        </p:txBody>
      </p:sp>
      <p:sp>
        <p:nvSpPr>
          <p:cNvPr id="7" name="Texte étape 1"/>
          <p:cNvSpPr txBox="1"/>
          <p:nvPr/>
        </p:nvSpPr>
        <p:spPr>
          <a:xfrm>
            <a:off x="548640" y="2514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Observations, questionnaires et entretiens à Saint-Roch</a:t>
            </a:r>
            <a:endParaRPr lang="en-US" sz="1600" dirty="0"/>
          </a:p>
        </p:txBody>
      </p:sp>
      <p:sp>
        <p:nvSpPr>
          <p:cNvPr id="8" name="Étape 2"/>
          <p:cNvSpPr/>
          <p:nvPr/>
        </p:nvSpPr>
        <p:spPr>
          <a:xfrm>
            <a:off x="4343400" y="16002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uméro étape 2"/>
          <p:cNvSpPr txBox="1"/>
          <p:nvPr/>
        </p:nvSpPr>
        <p:spPr>
          <a:xfrm>
            <a:off x="43434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itre étape 2"/>
          <p:cNvSpPr txBox="1"/>
          <p:nvPr/>
        </p:nvSpPr>
        <p:spPr>
          <a:xfrm>
            <a:off x="525780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Analyser</a:t>
            </a:r>
            <a:endParaRPr lang="en-US" sz="2200" dirty="0"/>
          </a:p>
        </p:txBody>
      </p:sp>
      <p:sp>
        <p:nvSpPr>
          <p:cNvPr id="11" name="Texte étape 2"/>
          <p:cNvSpPr txBox="1"/>
          <p:nvPr/>
        </p:nvSpPr>
        <p:spPr>
          <a:xfrm>
            <a:off x="4343400" y="2514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Tester les sous-hypothèses de chaque dimension</a:t>
            </a:r>
            <a:endParaRPr lang="en-US" sz="1600" dirty="0"/>
          </a:p>
        </p:txBody>
      </p:sp>
      <p:sp>
        <p:nvSpPr>
          <p:cNvPr id="12" name="Étape 3"/>
          <p:cNvSpPr/>
          <p:nvPr/>
        </p:nvSpPr>
        <p:spPr>
          <a:xfrm>
            <a:off x="8138160" y="16002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Numéro étape 3"/>
          <p:cNvSpPr txBox="1"/>
          <p:nvPr/>
        </p:nvSpPr>
        <p:spPr>
          <a:xfrm>
            <a:off x="81381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itre étape 3"/>
          <p:cNvSpPr txBox="1"/>
          <p:nvPr/>
        </p:nvSpPr>
        <p:spPr>
          <a:xfrm>
            <a:off x="9052560" y="1600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Préconiser</a:t>
            </a:r>
            <a:endParaRPr lang="en-US" sz="2200" dirty="0"/>
          </a:p>
        </p:txBody>
      </p:sp>
      <p:sp>
        <p:nvSpPr>
          <p:cNvPr id="15" name="Texte étape 3"/>
          <p:cNvSpPr txBox="1"/>
          <p:nvPr/>
        </p:nvSpPr>
        <p:spPr>
          <a:xfrm>
            <a:off x="8138160" y="2514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Signalétique, information multilingue, titre « visiteur »</a:t>
            </a:r>
            <a:endParaRPr lang="en-US" sz="1600" dirty="0"/>
          </a:p>
        </p:txBody>
      </p:sp>
      <p:sp>
        <p:nvSpPr>
          <p:cNvPr id="16" name="Merci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17" name="Questions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3"/>
                </a:solidFill>
              </a:rPr>
              <a:t>Questions et échanges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int-Roch Méditerranée">
  <a:themeElements>
    <a:clrScheme name="Saint-Roch Méditerranée">
      <a:dk1>
        <a:srgbClr val="1B2B33"/>
      </a:dk1>
      <a:lt1>
        <a:srgbClr val="FFFFFF"/>
      </a:lt1>
      <a:dk2>
        <a:srgbClr val="0E4A5C"/>
      </a:dk2>
      <a:lt2>
        <a:srgbClr val="EAF2F3"/>
      </a:lt2>
      <a:accent1>
        <a:srgbClr val="C8553D"/>
      </a:accent1>
      <a:accent2>
        <a:srgbClr val="0E7C86"/>
      </a:accent2>
      <a:accent3>
        <a:srgbClr val="E9A23B"/>
      </a:accent3>
      <a:accent4>
        <a:srgbClr val="5B7F95"/>
      </a:accent4>
      <a:accent5>
        <a:srgbClr val="8FB8BF"/>
      </a:accent5>
      <a:accent6>
        <a:srgbClr val="3D5A40"/>
      </a:accent6>
      <a:hlink>
        <a:srgbClr val="0E7C86"/>
      </a:hlink>
      <a:folHlink>
        <a:srgbClr val="5B7F95"/>
      </a:folHlink>
    </a:clrScheme>
    <a:fontScheme name="Saint-Roch Méditerrané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Mobilités touristiques – Gare Montpellier Saint-Roch</dc:title>
  <dc:subject>Atelier tutoré – Master Transport &amp; Mobilités</dc:subject>
  <dc:creator>Groupe atelier Saint-Roch</dc:creator>
  <cp:lastModifiedBy>Groupe atelier Saint-Roch</cp:lastModifiedBy>
  <cp:revision>1</cp:revision>
  <dcterms:created xsi:type="dcterms:W3CDTF">2026-10-15T21:43:58Z</dcterms:created>
  <dcterms:modified xsi:type="dcterms:W3CDTF">2026-10-15T21:43:58Z</dcterms:modified>
</cp:coreProperties>
</file>